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457200"/>
            <a:ext cx="594360" cy="594360"/>
          </a:xfrm>
          <a:prstGeom prst="rect">
            <a:avLst/>
          </a:prstGeom>
          <a:noFill/>
        </p:spPr>
        <p:txBody>
          <a:bodyPr wrap="square" anchor="ctr">
            <a:spAutoFit/>
          </a:bodyPr>
          <a:lstStyle/>
          <a:p>
            <a:pPr algn="ctr">
              <a:defRPr sz="2000" b="1">
                <a:solidFill>
                  <a:srgbClr val="182652"/>
                </a:solidFill>
                <a:latin typeface="Aptos"/>
              </a:defRPr>
            </a:pPr>
            <a:r>
              <a:t>TB</a:t>
            </a:r>
          </a:p>
        </p:txBody>
      </p:sp>
      <p:sp>
        <p:nvSpPr>
          <p:cNvPr id="5" name="Oval 4"/>
          <p:cNvSpPr/>
          <p:nvPr/>
        </p:nvSpPr>
        <p:spPr>
          <a:xfrm>
            <a:off x="457200" y="411480"/>
            <a:ext cx="685800" cy="685800"/>
          </a:xfrm>
          <a:prstGeom prst="ellipse">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9496" y="539496"/>
            <a:ext cx="512064" cy="274320"/>
          </a:xfrm>
          <a:prstGeom prst="rect">
            <a:avLst/>
          </a:prstGeom>
          <a:noFill/>
        </p:spPr>
        <p:txBody>
          <a:bodyPr wrap="square" anchor="t">
            <a:spAutoFit/>
          </a:bodyPr>
          <a:lstStyle/>
          <a:p>
            <a:pPr algn="ctr">
              <a:defRPr sz="1500" b="1">
                <a:solidFill>
                  <a:srgbClr val="182652"/>
                </a:solidFill>
                <a:latin typeface="Aptos"/>
              </a:defRPr>
            </a:pPr>
            <a:r>
              <a:t>TB</a:t>
            </a:r>
          </a:p>
        </p:txBody>
      </p:sp>
      <p:sp>
        <p:nvSpPr>
          <p:cNvPr id="7" name="TextBox 6"/>
          <p:cNvSpPr txBox="1"/>
          <p:nvPr/>
        </p:nvSpPr>
        <p:spPr>
          <a:xfrm>
            <a:off x="1298448" y="530352"/>
            <a:ext cx="2926080" cy="228600"/>
          </a:xfrm>
          <a:prstGeom prst="rect">
            <a:avLst/>
          </a:prstGeom>
          <a:noFill/>
        </p:spPr>
        <p:txBody>
          <a:bodyPr wrap="square" anchor="t">
            <a:spAutoFit/>
          </a:bodyPr>
          <a:lstStyle/>
          <a:p>
            <a:pPr algn="l">
              <a:defRPr sz="1000" b="1">
                <a:solidFill>
                  <a:srgbClr val="EEA724"/>
                </a:solidFill>
                <a:latin typeface="Aptos"/>
              </a:defRPr>
            </a:pPr>
            <a:r>
              <a:t>TASTYBITES</a:t>
            </a:r>
          </a:p>
        </p:txBody>
      </p:sp>
      <p:sp>
        <p:nvSpPr>
          <p:cNvPr id="8" name="TextBox 7"/>
          <p:cNvSpPr txBox="1"/>
          <p:nvPr/>
        </p:nvSpPr>
        <p:spPr>
          <a:xfrm>
            <a:off x="594360" y="1600200"/>
            <a:ext cx="7680960" cy="1234440"/>
          </a:xfrm>
          <a:prstGeom prst="rect">
            <a:avLst/>
          </a:prstGeom>
          <a:noFill/>
        </p:spPr>
        <p:txBody>
          <a:bodyPr wrap="square" anchor="t">
            <a:spAutoFit/>
          </a:bodyPr>
          <a:lstStyle/>
          <a:p>
            <a:pPr algn="l">
              <a:defRPr sz="2900" b="1">
                <a:solidFill>
                  <a:srgbClr val="FFFFFF"/>
                </a:solidFill>
                <a:latin typeface="Aptos"/>
              </a:defRPr>
            </a:pPr>
            <a:r>
              <a:t>PRODUCT PRICING &amp;</a:t>
            </a:r>
            <a:br/>
            <a:r>
              <a:t>PROFITABILITY ANALYSIS</a:t>
            </a:r>
          </a:p>
        </p:txBody>
      </p:sp>
      <p:sp>
        <p:nvSpPr>
          <p:cNvPr id="9" name="TextBox 8"/>
          <p:cNvSpPr txBox="1"/>
          <p:nvPr/>
        </p:nvSpPr>
        <p:spPr>
          <a:xfrm>
            <a:off x="621792" y="2880360"/>
            <a:ext cx="4937760" cy="365760"/>
          </a:xfrm>
          <a:prstGeom prst="rect">
            <a:avLst/>
          </a:prstGeom>
          <a:noFill/>
        </p:spPr>
        <p:txBody>
          <a:bodyPr wrap="square" anchor="t">
            <a:spAutoFit/>
          </a:bodyPr>
          <a:lstStyle/>
          <a:p>
            <a:pPr algn="l">
              <a:defRPr sz="1600" b="1">
                <a:solidFill>
                  <a:srgbClr val="EEA724"/>
                </a:solidFill>
                <a:latin typeface="Aptos"/>
              </a:defRPr>
            </a:pPr>
            <a:r>
              <a:t>Business Intelligence Case Study</a:t>
            </a:r>
          </a:p>
        </p:txBody>
      </p:sp>
      <p:sp>
        <p:nvSpPr>
          <p:cNvPr id="10" name="TextBox 9"/>
          <p:cNvSpPr txBox="1"/>
          <p:nvPr/>
        </p:nvSpPr>
        <p:spPr>
          <a:xfrm>
            <a:off x="621792" y="3401568"/>
            <a:ext cx="5303520" cy="594360"/>
          </a:xfrm>
          <a:prstGeom prst="rect">
            <a:avLst/>
          </a:prstGeom>
          <a:noFill/>
        </p:spPr>
        <p:txBody>
          <a:bodyPr wrap="square" anchor="t">
            <a:spAutoFit/>
          </a:bodyPr>
          <a:lstStyle/>
          <a:p>
            <a:pPr algn="l">
              <a:defRPr sz="1200" b="0">
                <a:solidFill>
                  <a:srgbClr val="DCE0EC"/>
                </a:solidFill>
                <a:latin typeface="Aptos"/>
              </a:defRPr>
            </a:pPr>
            <a:r>
              <a:t>3,000 orders • 20 products • 4 categories</a:t>
            </a:r>
            <a:br/>
            <a:r>
              <a:t>October 2024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PROJECT OBJECTIVES</a:t>
            </a:r>
          </a:p>
        </p:txBody>
      </p:sp>
      <p:sp>
        <p:nvSpPr>
          <p:cNvPr id="6" name="Rounded Rectangle 5"/>
          <p:cNvSpPr/>
          <p:nvPr/>
        </p:nvSpPr>
        <p:spPr>
          <a:xfrm>
            <a:off x="502920" y="1143000"/>
            <a:ext cx="2651760" cy="4251960"/>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 y="1252728"/>
            <a:ext cx="2359152" cy="256032"/>
          </a:xfrm>
          <a:prstGeom prst="rect">
            <a:avLst/>
          </a:prstGeom>
          <a:noFill/>
        </p:spPr>
        <p:txBody>
          <a:bodyPr wrap="square" anchor="t">
            <a:spAutoFit/>
          </a:bodyPr>
          <a:lstStyle/>
          <a:p>
            <a:pPr algn="l">
              <a:defRPr sz="900" b="1">
                <a:solidFill>
                  <a:srgbClr val="182652"/>
                </a:solidFill>
                <a:latin typeface="Aptos"/>
              </a:defRPr>
            </a:pPr>
            <a:r>
              <a:t>Revenue &amp; Profitability</a:t>
            </a:r>
          </a:p>
        </p:txBody>
      </p:sp>
      <p:sp>
        <p:nvSpPr>
          <p:cNvPr id="8" name="TextBox 7"/>
          <p:cNvSpPr txBox="1"/>
          <p:nvPr/>
        </p:nvSpPr>
        <p:spPr>
          <a:xfrm>
            <a:off x="649224" y="1536192"/>
            <a:ext cx="2359152" cy="3749040"/>
          </a:xfrm>
          <a:prstGeom prst="rect">
            <a:avLst/>
          </a:prstGeom>
          <a:noFill/>
        </p:spPr>
        <p:txBody>
          <a:bodyPr wrap="square" anchor="t">
            <a:spAutoFit/>
          </a:bodyPr>
          <a:lstStyle/>
          <a:p>
            <a:pPr algn="l">
              <a:defRPr sz="840" b="0">
                <a:solidFill>
                  <a:srgbClr val="2D3037"/>
                </a:solidFill>
                <a:latin typeface="Aptos"/>
              </a:defRPr>
            </a:pPr>
            <a:r>
              <a:t>Identify products and categories that drive the highest revenue and profit, using net revenue after discount.</a:t>
            </a:r>
          </a:p>
        </p:txBody>
      </p:sp>
      <p:sp>
        <p:nvSpPr>
          <p:cNvPr id="9" name="Rounded Rectangle 8"/>
          <p:cNvSpPr/>
          <p:nvPr/>
        </p:nvSpPr>
        <p:spPr>
          <a:xfrm>
            <a:off x="3410712" y="1143000"/>
            <a:ext cx="2651760" cy="4251960"/>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57016" y="1252728"/>
            <a:ext cx="2359152" cy="256032"/>
          </a:xfrm>
          <a:prstGeom prst="rect">
            <a:avLst/>
          </a:prstGeom>
          <a:noFill/>
        </p:spPr>
        <p:txBody>
          <a:bodyPr wrap="square" anchor="t">
            <a:spAutoFit/>
          </a:bodyPr>
          <a:lstStyle/>
          <a:p>
            <a:pPr algn="l">
              <a:defRPr sz="900" b="1">
                <a:solidFill>
                  <a:srgbClr val="182652"/>
                </a:solidFill>
                <a:latin typeface="Aptos"/>
              </a:defRPr>
            </a:pPr>
            <a:r>
              <a:t>Discount Optimization</a:t>
            </a:r>
          </a:p>
        </p:txBody>
      </p:sp>
      <p:sp>
        <p:nvSpPr>
          <p:cNvPr id="11" name="TextBox 10"/>
          <p:cNvSpPr txBox="1"/>
          <p:nvPr/>
        </p:nvSpPr>
        <p:spPr>
          <a:xfrm>
            <a:off x="3557016" y="1536192"/>
            <a:ext cx="2359152" cy="3749040"/>
          </a:xfrm>
          <a:prstGeom prst="rect">
            <a:avLst/>
          </a:prstGeom>
          <a:noFill/>
        </p:spPr>
        <p:txBody>
          <a:bodyPr wrap="square" anchor="t">
            <a:spAutoFit/>
          </a:bodyPr>
          <a:lstStyle/>
          <a:p>
            <a:pPr algn="l">
              <a:defRPr sz="840" b="0">
                <a:solidFill>
                  <a:srgbClr val="2D3037"/>
                </a:solidFill>
                <a:latin typeface="Aptos"/>
              </a:defRPr>
            </a:pPr>
            <a:r>
              <a:t>Measure the monetary impact of discounts and assess how discount levels relate to product and category profitability.</a:t>
            </a:r>
          </a:p>
        </p:txBody>
      </p:sp>
      <p:sp>
        <p:nvSpPr>
          <p:cNvPr id="12" name="Rounded Rectangle 11"/>
          <p:cNvSpPr/>
          <p:nvPr/>
        </p:nvSpPr>
        <p:spPr>
          <a:xfrm>
            <a:off x="6318504" y="1143000"/>
            <a:ext cx="2651760" cy="4251960"/>
          </a:xfrm>
          <a:prstGeom prst="roundRect">
            <a:avLst/>
          </a:prstGeom>
          <a:solidFill>
            <a:srgbClr val="FFFFFF"/>
          </a:solidFill>
          <a:ln w="12700">
            <a:solidFill>
              <a:srgbClr val="7C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8" y="1252728"/>
            <a:ext cx="2359152" cy="256032"/>
          </a:xfrm>
          <a:prstGeom prst="rect">
            <a:avLst/>
          </a:prstGeom>
          <a:noFill/>
        </p:spPr>
        <p:txBody>
          <a:bodyPr wrap="square" anchor="t">
            <a:spAutoFit/>
          </a:bodyPr>
          <a:lstStyle/>
          <a:p>
            <a:pPr algn="l">
              <a:defRPr sz="900" b="1">
                <a:solidFill>
                  <a:srgbClr val="182652"/>
                </a:solidFill>
                <a:latin typeface="Aptos"/>
              </a:defRPr>
            </a:pPr>
            <a:r>
              <a:t>Pricing Opportunities</a:t>
            </a:r>
          </a:p>
        </p:txBody>
      </p:sp>
      <p:sp>
        <p:nvSpPr>
          <p:cNvPr id="14" name="TextBox 13"/>
          <p:cNvSpPr txBox="1"/>
          <p:nvPr/>
        </p:nvSpPr>
        <p:spPr>
          <a:xfrm>
            <a:off x="6464808" y="1536192"/>
            <a:ext cx="2359152" cy="3749040"/>
          </a:xfrm>
          <a:prstGeom prst="rect">
            <a:avLst/>
          </a:prstGeom>
          <a:noFill/>
        </p:spPr>
        <p:txBody>
          <a:bodyPr wrap="square" anchor="t">
            <a:spAutoFit/>
          </a:bodyPr>
          <a:lstStyle/>
          <a:p>
            <a:pPr algn="l">
              <a:defRPr sz="840" b="0">
                <a:solidFill>
                  <a:srgbClr val="2D3037"/>
                </a:solidFill>
                <a:latin typeface="Aptos"/>
              </a:defRPr>
            </a:pPr>
            <a:r>
              <a:t>Identify high-volume, healthy-margin products that are candidates for controlled price-adjustment tests.</a:t>
            </a:r>
          </a:p>
        </p:txBody>
      </p:sp>
      <p:sp>
        <p:nvSpPr>
          <p:cNvPr id="15" name="Rounded Rectangle 14"/>
          <p:cNvSpPr/>
          <p:nvPr/>
        </p:nvSpPr>
        <p:spPr>
          <a:xfrm>
            <a:off x="9226296" y="1143000"/>
            <a:ext cx="2651760" cy="4251960"/>
          </a:xfrm>
          <a:prstGeom prst="roundRect">
            <a:avLst/>
          </a:prstGeom>
          <a:solidFill>
            <a:srgbClr val="FFFFFF"/>
          </a:solidFill>
          <a:ln w="12700">
            <a:solidFill>
              <a:srgbClr val="34A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600" y="1252728"/>
            <a:ext cx="2359152" cy="256032"/>
          </a:xfrm>
          <a:prstGeom prst="rect">
            <a:avLst/>
          </a:prstGeom>
          <a:noFill/>
        </p:spPr>
        <p:txBody>
          <a:bodyPr wrap="square" anchor="t">
            <a:spAutoFit/>
          </a:bodyPr>
          <a:lstStyle/>
          <a:p>
            <a:pPr algn="l">
              <a:defRPr sz="900" b="1">
                <a:solidFill>
                  <a:srgbClr val="182652"/>
                </a:solidFill>
                <a:latin typeface="Aptos"/>
              </a:defRPr>
            </a:pPr>
            <a:r>
              <a:t>Promotion &amp; Bundling</a:t>
            </a:r>
          </a:p>
        </p:txBody>
      </p:sp>
      <p:sp>
        <p:nvSpPr>
          <p:cNvPr id="17" name="TextBox 16"/>
          <p:cNvSpPr txBox="1"/>
          <p:nvPr/>
        </p:nvSpPr>
        <p:spPr>
          <a:xfrm>
            <a:off x="9372600" y="1536192"/>
            <a:ext cx="2359152" cy="3749040"/>
          </a:xfrm>
          <a:prstGeom prst="rect">
            <a:avLst/>
          </a:prstGeom>
          <a:noFill/>
        </p:spPr>
        <p:txBody>
          <a:bodyPr wrap="square" anchor="t">
            <a:spAutoFit/>
          </a:bodyPr>
          <a:lstStyle/>
          <a:p>
            <a:pPr algn="l">
              <a:defRPr sz="840" b="0">
                <a:solidFill>
                  <a:srgbClr val="2D3037"/>
                </a:solidFill>
                <a:latin typeface="Aptos"/>
              </a:defRPr>
            </a:pPr>
            <a:r>
              <a:t>Recommend targeted promotions and bundle structures that increase value per order without unnecessary margin erosion.</a:t>
            </a:r>
          </a:p>
        </p:txBody>
      </p:sp>
      <p:sp>
        <p:nvSpPr>
          <p:cNvPr id="18" name="Rounded Rectangle 17"/>
          <p:cNvSpPr/>
          <p:nvPr/>
        </p:nvSpPr>
        <p:spPr>
          <a:xfrm>
            <a:off x="502920" y="5623560"/>
            <a:ext cx="11155680" cy="502920"/>
          </a:xfrm>
          <a:prstGeom prst="round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5769864"/>
            <a:ext cx="10789920" cy="201168"/>
          </a:xfrm>
          <a:prstGeom prst="rect">
            <a:avLst/>
          </a:prstGeom>
          <a:noFill/>
        </p:spPr>
        <p:txBody>
          <a:bodyPr wrap="square" anchor="t">
            <a:spAutoFit/>
          </a:bodyPr>
          <a:lstStyle/>
          <a:p>
            <a:pPr algn="ctr">
              <a:defRPr sz="850" b="1">
                <a:solidFill>
                  <a:srgbClr val="FFFFFF"/>
                </a:solidFill>
                <a:latin typeface="Aptos"/>
              </a:defRPr>
            </a:pPr>
            <a:r>
              <a:t>KPIs: Revenue per Product • Profit Margin % • Units Sold • Discount Impact • Contribution to Total Profit • AOV</a:t>
            </a:r>
          </a:p>
        </p:txBody>
      </p:sp>
      <p:sp>
        <p:nvSpPr>
          <p:cNvPr id="20" name="TextBox 19"/>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EXECUTIVE DASHBOARD — OVERALL PERFORMANCE</a:t>
            </a:r>
          </a:p>
        </p:txBody>
      </p:sp>
      <p:sp>
        <p:nvSpPr>
          <p:cNvPr id="6" name="Rounded Rectangle 5"/>
          <p:cNvSpPr/>
          <p:nvPr/>
        </p:nvSpPr>
        <p:spPr>
          <a:xfrm>
            <a:off x="502920" y="960120"/>
            <a:ext cx="3429000" cy="1170432"/>
          </a:xfrm>
          <a:prstGeom prst="roundRect">
            <a:avLst/>
          </a:prstGeom>
          <a:solidFill>
            <a:srgbClr val="FFFFFF"/>
          </a:solidFill>
          <a:ln w="1651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069848"/>
            <a:ext cx="3154680" cy="228600"/>
          </a:xfrm>
          <a:prstGeom prst="rect">
            <a:avLst/>
          </a:prstGeom>
          <a:noFill/>
        </p:spPr>
        <p:txBody>
          <a:bodyPr wrap="square" anchor="t">
            <a:spAutoFit/>
          </a:bodyPr>
          <a:lstStyle/>
          <a:p>
            <a:pPr algn="l">
              <a:defRPr sz="800" b="1">
                <a:solidFill>
                  <a:srgbClr val="696E78"/>
                </a:solidFill>
                <a:latin typeface="Aptos"/>
              </a:defRPr>
            </a:pPr>
            <a:r>
              <a:t>TOTAL REVENUE</a:t>
            </a:r>
          </a:p>
        </p:txBody>
      </p:sp>
      <p:sp>
        <p:nvSpPr>
          <p:cNvPr id="8" name="TextBox 7"/>
          <p:cNvSpPr txBox="1"/>
          <p:nvPr/>
        </p:nvSpPr>
        <p:spPr>
          <a:xfrm>
            <a:off x="640080" y="1344168"/>
            <a:ext cx="3154680" cy="411480"/>
          </a:xfrm>
          <a:prstGeom prst="rect">
            <a:avLst/>
          </a:prstGeom>
          <a:noFill/>
        </p:spPr>
        <p:txBody>
          <a:bodyPr wrap="square" anchor="t">
            <a:spAutoFit/>
          </a:bodyPr>
          <a:lstStyle/>
          <a:p>
            <a:pPr algn="l">
              <a:defRPr sz="2000" b="1">
                <a:solidFill>
                  <a:srgbClr val="182652"/>
                </a:solidFill>
                <a:latin typeface="Aptos"/>
              </a:defRPr>
            </a:pPr>
            <a:r>
              <a:t>₹10.8L</a:t>
            </a:r>
          </a:p>
        </p:txBody>
      </p:sp>
      <p:sp>
        <p:nvSpPr>
          <p:cNvPr id="9" name="TextBox 8"/>
          <p:cNvSpPr txBox="1"/>
          <p:nvPr/>
        </p:nvSpPr>
        <p:spPr>
          <a:xfrm>
            <a:off x="640080" y="1837944"/>
            <a:ext cx="3154680" cy="201168"/>
          </a:xfrm>
          <a:prstGeom prst="rect">
            <a:avLst/>
          </a:prstGeom>
          <a:noFill/>
        </p:spPr>
        <p:txBody>
          <a:bodyPr wrap="square" anchor="t">
            <a:spAutoFit/>
          </a:bodyPr>
          <a:lstStyle/>
          <a:p>
            <a:pPr algn="l">
              <a:defRPr sz="750" b="0">
                <a:solidFill>
                  <a:srgbClr val="696E78"/>
                </a:solidFill>
                <a:latin typeface="Aptos"/>
              </a:defRPr>
            </a:pPr>
            <a:r>
              <a:t>Net of discounts</a:t>
            </a:r>
          </a:p>
        </p:txBody>
      </p:sp>
      <p:sp>
        <p:nvSpPr>
          <p:cNvPr id="10" name="Rounded Rectangle 9"/>
          <p:cNvSpPr/>
          <p:nvPr/>
        </p:nvSpPr>
        <p:spPr>
          <a:xfrm>
            <a:off x="4206240" y="960120"/>
            <a:ext cx="3429000" cy="1170432"/>
          </a:xfrm>
          <a:prstGeom prst="roundRect">
            <a:avLst/>
          </a:prstGeom>
          <a:solidFill>
            <a:srgbClr val="FFFFFF"/>
          </a:solidFill>
          <a:ln w="16510">
            <a:solidFill>
              <a:srgbClr val="34A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400" y="1069848"/>
            <a:ext cx="3154680" cy="228600"/>
          </a:xfrm>
          <a:prstGeom prst="rect">
            <a:avLst/>
          </a:prstGeom>
          <a:noFill/>
        </p:spPr>
        <p:txBody>
          <a:bodyPr wrap="square" anchor="t">
            <a:spAutoFit/>
          </a:bodyPr>
          <a:lstStyle/>
          <a:p>
            <a:pPr algn="l">
              <a:defRPr sz="800" b="1">
                <a:solidFill>
                  <a:srgbClr val="696E78"/>
                </a:solidFill>
                <a:latin typeface="Aptos"/>
              </a:defRPr>
            </a:pPr>
            <a:r>
              <a:t>TOTAL PROFIT</a:t>
            </a:r>
          </a:p>
        </p:txBody>
      </p:sp>
      <p:sp>
        <p:nvSpPr>
          <p:cNvPr id="12" name="TextBox 11"/>
          <p:cNvSpPr txBox="1"/>
          <p:nvPr/>
        </p:nvSpPr>
        <p:spPr>
          <a:xfrm>
            <a:off x="4343400" y="1344168"/>
            <a:ext cx="3154680" cy="411480"/>
          </a:xfrm>
          <a:prstGeom prst="rect">
            <a:avLst/>
          </a:prstGeom>
          <a:noFill/>
        </p:spPr>
        <p:txBody>
          <a:bodyPr wrap="square" anchor="t">
            <a:spAutoFit/>
          </a:bodyPr>
          <a:lstStyle/>
          <a:p>
            <a:pPr algn="l">
              <a:defRPr sz="2000" b="1">
                <a:solidFill>
                  <a:srgbClr val="182652"/>
                </a:solidFill>
                <a:latin typeface="Aptos"/>
              </a:defRPr>
            </a:pPr>
            <a:r>
              <a:t>₹4.8L</a:t>
            </a:r>
          </a:p>
        </p:txBody>
      </p:sp>
      <p:sp>
        <p:nvSpPr>
          <p:cNvPr id="13" name="TextBox 12"/>
          <p:cNvSpPr txBox="1"/>
          <p:nvPr/>
        </p:nvSpPr>
        <p:spPr>
          <a:xfrm>
            <a:off x="4343400" y="1837944"/>
            <a:ext cx="3154680" cy="201168"/>
          </a:xfrm>
          <a:prstGeom prst="rect">
            <a:avLst/>
          </a:prstGeom>
          <a:noFill/>
        </p:spPr>
        <p:txBody>
          <a:bodyPr wrap="square" anchor="t">
            <a:spAutoFit/>
          </a:bodyPr>
          <a:lstStyle/>
          <a:p>
            <a:pPr algn="l">
              <a:defRPr sz="750" b="0">
                <a:solidFill>
                  <a:srgbClr val="696E78"/>
                </a:solidFill>
                <a:latin typeface="Aptos"/>
              </a:defRPr>
            </a:pPr>
            <a:r>
              <a:t>Revenue less product cost</a:t>
            </a:r>
          </a:p>
        </p:txBody>
      </p:sp>
      <p:sp>
        <p:nvSpPr>
          <p:cNvPr id="14" name="Rounded Rectangle 13"/>
          <p:cNvSpPr/>
          <p:nvPr/>
        </p:nvSpPr>
        <p:spPr>
          <a:xfrm>
            <a:off x="7909560" y="960120"/>
            <a:ext cx="3429000" cy="1170432"/>
          </a:xfrm>
          <a:prstGeom prst="roundRect">
            <a:avLst/>
          </a:prstGeom>
          <a:solidFill>
            <a:srgbClr val="FFFFFF"/>
          </a:solidFill>
          <a:ln w="1651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0" y="1069848"/>
            <a:ext cx="3154680" cy="228600"/>
          </a:xfrm>
          <a:prstGeom prst="rect">
            <a:avLst/>
          </a:prstGeom>
          <a:noFill/>
        </p:spPr>
        <p:txBody>
          <a:bodyPr wrap="square" anchor="t">
            <a:spAutoFit/>
          </a:bodyPr>
          <a:lstStyle/>
          <a:p>
            <a:pPr algn="l">
              <a:defRPr sz="800" b="1">
                <a:solidFill>
                  <a:srgbClr val="696E78"/>
                </a:solidFill>
                <a:latin typeface="Aptos"/>
              </a:defRPr>
            </a:pPr>
            <a:r>
              <a:t>PROFIT MARGIN</a:t>
            </a:r>
          </a:p>
        </p:txBody>
      </p:sp>
      <p:sp>
        <p:nvSpPr>
          <p:cNvPr id="16" name="TextBox 15"/>
          <p:cNvSpPr txBox="1"/>
          <p:nvPr/>
        </p:nvSpPr>
        <p:spPr>
          <a:xfrm>
            <a:off x="8046720" y="1344168"/>
            <a:ext cx="3154680" cy="411480"/>
          </a:xfrm>
          <a:prstGeom prst="rect">
            <a:avLst/>
          </a:prstGeom>
          <a:noFill/>
        </p:spPr>
        <p:txBody>
          <a:bodyPr wrap="square" anchor="t">
            <a:spAutoFit/>
          </a:bodyPr>
          <a:lstStyle/>
          <a:p>
            <a:pPr algn="l">
              <a:defRPr sz="2000" b="1">
                <a:solidFill>
                  <a:srgbClr val="182652"/>
                </a:solidFill>
                <a:latin typeface="Aptos"/>
              </a:defRPr>
            </a:pPr>
            <a:r>
              <a:t>45.0%</a:t>
            </a:r>
          </a:p>
        </p:txBody>
      </p:sp>
      <p:sp>
        <p:nvSpPr>
          <p:cNvPr id="17" name="TextBox 16"/>
          <p:cNvSpPr txBox="1"/>
          <p:nvPr/>
        </p:nvSpPr>
        <p:spPr>
          <a:xfrm>
            <a:off x="8046720" y="1837944"/>
            <a:ext cx="3154680" cy="201168"/>
          </a:xfrm>
          <a:prstGeom prst="rect">
            <a:avLst/>
          </a:prstGeom>
          <a:noFill/>
        </p:spPr>
        <p:txBody>
          <a:bodyPr wrap="square" anchor="t">
            <a:spAutoFit/>
          </a:bodyPr>
          <a:lstStyle/>
          <a:p>
            <a:pPr algn="l">
              <a:defRPr sz="750" b="0">
                <a:solidFill>
                  <a:srgbClr val="696E78"/>
                </a:solidFill>
                <a:latin typeface="Aptos"/>
              </a:defRPr>
            </a:pPr>
            <a:r>
              <a:t>Profit ÷ Revenue</a:t>
            </a:r>
          </a:p>
        </p:txBody>
      </p:sp>
      <p:sp>
        <p:nvSpPr>
          <p:cNvPr id="18" name="Rounded Rectangle 17"/>
          <p:cNvSpPr/>
          <p:nvPr/>
        </p:nvSpPr>
        <p:spPr>
          <a:xfrm>
            <a:off x="502920" y="2377440"/>
            <a:ext cx="3429000" cy="1170432"/>
          </a:xfrm>
          <a:prstGeom prst="roundRect">
            <a:avLst/>
          </a:prstGeom>
          <a:solidFill>
            <a:srgbClr val="FFFFFF"/>
          </a:solidFill>
          <a:ln w="16510">
            <a:solidFill>
              <a:srgbClr val="7C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2487168"/>
            <a:ext cx="3154680" cy="228600"/>
          </a:xfrm>
          <a:prstGeom prst="rect">
            <a:avLst/>
          </a:prstGeom>
          <a:noFill/>
        </p:spPr>
        <p:txBody>
          <a:bodyPr wrap="square" anchor="t">
            <a:spAutoFit/>
          </a:bodyPr>
          <a:lstStyle/>
          <a:p>
            <a:pPr algn="l">
              <a:defRPr sz="800" b="1">
                <a:solidFill>
                  <a:srgbClr val="696E78"/>
                </a:solidFill>
                <a:latin typeface="Aptos"/>
              </a:defRPr>
            </a:pPr>
            <a:r>
              <a:t>AVERAGE ORDER VALUE</a:t>
            </a:r>
          </a:p>
        </p:txBody>
      </p:sp>
      <p:sp>
        <p:nvSpPr>
          <p:cNvPr id="20" name="TextBox 19"/>
          <p:cNvSpPr txBox="1"/>
          <p:nvPr/>
        </p:nvSpPr>
        <p:spPr>
          <a:xfrm>
            <a:off x="640080" y="2761488"/>
            <a:ext cx="3154680" cy="411480"/>
          </a:xfrm>
          <a:prstGeom prst="rect">
            <a:avLst/>
          </a:prstGeom>
          <a:noFill/>
        </p:spPr>
        <p:txBody>
          <a:bodyPr wrap="square" anchor="t">
            <a:spAutoFit/>
          </a:bodyPr>
          <a:lstStyle/>
          <a:p>
            <a:pPr algn="l">
              <a:defRPr sz="2000" b="1">
                <a:solidFill>
                  <a:srgbClr val="182652"/>
                </a:solidFill>
                <a:latin typeface="Aptos"/>
              </a:defRPr>
            </a:pPr>
            <a:r>
              <a:t>₹359</a:t>
            </a:r>
          </a:p>
        </p:txBody>
      </p:sp>
      <p:sp>
        <p:nvSpPr>
          <p:cNvPr id="21" name="TextBox 20"/>
          <p:cNvSpPr txBox="1"/>
          <p:nvPr/>
        </p:nvSpPr>
        <p:spPr>
          <a:xfrm>
            <a:off x="640080" y="3255264"/>
            <a:ext cx="3154680" cy="201168"/>
          </a:xfrm>
          <a:prstGeom prst="rect">
            <a:avLst/>
          </a:prstGeom>
          <a:noFill/>
        </p:spPr>
        <p:txBody>
          <a:bodyPr wrap="square" anchor="t">
            <a:spAutoFit/>
          </a:bodyPr>
          <a:lstStyle/>
          <a:p>
            <a:pPr algn="l">
              <a:defRPr sz="750" b="0">
                <a:solidFill>
                  <a:srgbClr val="696E78"/>
                </a:solidFill>
                <a:latin typeface="Aptos"/>
              </a:defRPr>
            </a:pPr>
            <a:r>
              <a:t>Revenue ÷ unique orders</a:t>
            </a:r>
          </a:p>
        </p:txBody>
      </p:sp>
      <p:sp>
        <p:nvSpPr>
          <p:cNvPr id="22" name="Rounded Rectangle 21"/>
          <p:cNvSpPr/>
          <p:nvPr/>
        </p:nvSpPr>
        <p:spPr>
          <a:xfrm>
            <a:off x="4206240" y="2377440"/>
            <a:ext cx="3429000" cy="1170432"/>
          </a:xfrm>
          <a:prstGeom prst="roundRect">
            <a:avLst/>
          </a:prstGeom>
          <a:solidFill>
            <a:srgbClr val="FFFFFF"/>
          </a:solidFill>
          <a:ln w="16510">
            <a:solidFill>
              <a:srgbClr val="D24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43400" y="2487168"/>
            <a:ext cx="3154680" cy="228600"/>
          </a:xfrm>
          <a:prstGeom prst="rect">
            <a:avLst/>
          </a:prstGeom>
          <a:noFill/>
        </p:spPr>
        <p:txBody>
          <a:bodyPr wrap="square" anchor="t">
            <a:spAutoFit/>
          </a:bodyPr>
          <a:lstStyle/>
          <a:p>
            <a:pPr algn="l">
              <a:defRPr sz="800" b="1">
                <a:solidFill>
                  <a:srgbClr val="696E78"/>
                </a:solidFill>
                <a:latin typeface="Aptos"/>
              </a:defRPr>
            </a:pPr>
            <a:r>
              <a:t>TOTAL ORDERS</a:t>
            </a:r>
          </a:p>
        </p:txBody>
      </p:sp>
      <p:sp>
        <p:nvSpPr>
          <p:cNvPr id="24" name="TextBox 23"/>
          <p:cNvSpPr txBox="1"/>
          <p:nvPr/>
        </p:nvSpPr>
        <p:spPr>
          <a:xfrm>
            <a:off x="4343400" y="2761488"/>
            <a:ext cx="3154680" cy="411480"/>
          </a:xfrm>
          <a:prstGeom prst="rect">
            <a:avLst/>
          </a:prstGeom>
          <a:noFill/>
        </p:spPr>
        <p:txBody>
          <a:bodyPr wrap="square" anchor="t">
            <a:spAutoFit/>
          </a:bodyPr>
          <a:lstStyle/>
          <a:p>
            <a:pPr algn="l">
              <a:defRPr sz="2000" b="1">
                <a:solidFill>
                  <a:srgbClr val="182652"/>
                </a:solidFill>
                <a:latin typeface="Aptos"/>
              </a:defRPr>
            </a:pPr>
            <a:r>
              <a:t>3,000</a:t>
            </a:r>
          </a:p>
        </p:txBody>
      </p:sp>
      <p:sp>
        <p:nvSpPr>
          <p:cNvPr id="25" name="TextBox 24"/>
          <p:cNvSpPr txBox="1"/>
          <p:nvPr/>
        </p:nvSpPr>
        <p:spPr>
          <a:xfrm>
            <a:off x="4343400" y="3255264"/>
            <a:ext cx="3154680" cy="201168"/>
          </a:xfrm>
          <a:prstGeom prst="rect">
            <a:avLst/>
          </a:prstGeom>
          <a:noFill/>
        </p:spPr>
        <p:txBody>
          <a:bodyPr wrap="square" anchor="t">
            <a:spAutoFit/>
          </a:bodyPr>
          <a:lstStyle/>
          <a:p>
            <a:pPr algn="l">
              <a:defRPr sz="750" b="0">
                <a:solidFill>
                  <a:srgbClr val="696E78"/>
                </a:solidFill>
                <a:latin typeface="Aptos"/>
              </a:defRPr>
            </a:pPr>
            <a:r>
              <a:t>Unique OrderIDs</a:t>
            </a:r>
          </a:p>
        </p:txBody>
      </p:sp>
      <p:sp>
        <p:nvSpPr>
          <p:cNvPr id="26" name="Rounded Rectangle 25"/>
          <p:cNvSpPr/>
          <p:nvPr/>
        </p:nvSpPr>
        <p:spPr>
          <a:xfrm>
            <a:off x="7909560" y="2377440"/>
            <a:ext cx="3429000" cy="1170432"/>
          </a:xfrm>
          <a:prstGeom prst="roundRect">
            <a:avLst/>
          </a:prstGeom>
          <a:solidFill>
            <a:srgbClr val="FFFFFF"/>
          </a:solidFill>
          <a:ln w="1651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6720" y="2487168"/>
            <a:ext cx="3154680" cy="228600"/>
          </a:xfrm>
          <a:prstGeom prst="rect">
            <a:avLst/>
          </a:prstGeom>
          <a:noFill/>
        </p:spPr>
        <p:txBody>
          <a:bodyPr wrap="square" anchor="t">
            <a:spAutoFit/>
          </a:bodyPr>
          <a:lstStyle/>
          <a:p>
            <a:pPr algn="l">
              <a:defRPr sz="800" b="1">
                <a:solidFill>
                  <a:srgbClr val="696E78"/>
                </a:solidFill>
                <a:latin typeface="Aptos"/>
              </a:defRPr>
            </a:pPr>
            <a:r>
              <a:t>UNITS SOLD</a:t>
            </a:r>
          </a:p>
        </p:txBody>
      </p:sp>
      <p:sp>
        <p:nvSpPr>
          <p:cNvPr id="28" name="TextBox 27"/>
          <p:cNvSpPr txBox="1"/>
          <p:nvPr/>
        </p:nvSpPr>
        <p:spPr>
          <a:xfrm>
            <a:off x="8046720" y="2761488"/>
            <a:ext cx="3154680" cy="411480"/>
          </a:xfrm>
          <a:prstGeom prst="rect">
            <a:avLst/>
          </a:prstGeom>
          <a:noFill/>
        </p:spPr>
        <p:txBody>
          <a:bodyPr wrap="square" anchor="t">
            <a:spAutoFit/>
          </a:bodyPr>
          <a:lstStyle/>
          <a:p>
            <a:pPr algn="l">
              <a:defRPr sz="2000" b="1">
                <a:solidFill>
                  <a:srgbClr val="182652"/>
                </a:solidFill>
                <a:latin typeface="Aptos"/>
              </a:defRPr>
            </a:pPr>
            <a:r>
              <a:t>6,885</a:t>
            </a:r>
          </a:p>
        </p:txBody>
      </p:sp>
      <p:sp>
        <p:nvSpPr>
          <p:cNvPr id="29" name="TextBox 28"/>
          <p:cNvSpPr txBox="1"/>
          <p:nvPr/>
        </p:nvSpPr>
        <p:spPr>
          <a:xfrm>
            <a:off x="8046720" y="3255264"/>
            <a:ext cx="3154680" cy="201168"/>
          </a:xfrm>
          <a:prstGeom prst="rect">
            <a:avLst/>
          </a:prstGeom>
          <a:noFill/>
        </p:spPr>
        <p:txBody>
          <a:bodyPr wrap="square" anchor="t">
            <a:spAutoFit/>
          </a:bodyPr>
          <a:lstStyle/>
          <a:p>
            <a:pPr algn="l">
              <a:defRPr sz="750" b="0">
                <a:solidFill>
                  <a:srgbClr val="696E78"/>
                </a:solidFill>
                <a:latin typeface="Aptos"/>
              </a:defRPr>
            </a:pPr>
            <a:r>
              <a:t>Total quantity</a:t>
            </a:r>
          </a:p>
        </p:txBody>
      </p:sp>
      <p:sp>
        <p:nvSpPr>
          <p:cNvPr id="30" name="Rounded Rectangle 29"/>
          <p:cNvSpPr/>
          <p:nvPr/>
        </p:nvSpPr>
        <p:spPr>
          <a:xfrm>
            <a:off x="502920" y="3977639"/>
            <a:ext cx="11109960" cy="1600200"/>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9224" y="4087368"/>
            <a:ext cx="10817352" cy="256032"/>
          </a:xfrm>
          <a:prstGeom prst="rect">
            <a:avLst/>
          </a:prstGeom>
          <a:noFill/>
        </p:spPr>
        <p:txBody>
          <a:bodyPr wrap="square" anchor="t">
            <a:spAutoFit/>
          </a:bodyPr>
          <a:lstStyle/>
          <a:p>
            <a:pPr algn="l">
              <a:defRPr sz="900" b="1">
                <a:solidFill>
                  <a:srgbClr val="182652"/>
                </a:solidFill>
                <a:latin typeface="Aptos"/>
              </a:defRPr>
            </a:pPr>
            <a:r>
              <a:t>Executive readout</a:t>
            </a:r>
          </a:p>
        </p:txBody>
      </p:sp>
      <p:sp>
        <p:nvSpPr>
          <p:cNvPr id="32" name="TextBox 31"/>
          <p:cNvSpPr txBox="1"/>
          <p:nvPr/>
        </p:nvSpPr>
        <p:spPr>
          <a:xfrm>
            <a:off x="649224" y="4370831"/>
            <a:ext cx="10817352" cy="400110"/>
          </a:xfrm>
          <a:prstGeom prst="rect">
            <a:avLst/>
          </a:prstGeom>
          <a:noFill/>
        </p:spPr>
        <p:txBody>
          <a:bodyPr wrap="square" anchor="t">
            <a:spAutoFit/>
          </a:bodyPr>
          <a:lstStyle/>
          <a:p>
            <a:pPr algn="l">
              <a:defRPr sz="840" b="0">
                <a:solidFill>
                  <a:srgbClr val="2D3037"/>
                </a:solidFill>
                <a:latin typeface="Aptos"/>
              </a:defRPr>
            </a:pPr>
            <a:r>
              <a:rPr sz="1000"/>
              <a:t>Meals generate 59.2% of revenue and 50.7% of total profit. Beverages deliver the strongest category margin at 58.8%. Total discount impact is ₹1.0L, equivalent to 8.7% of gross sales before discount.</a:t>
            </a:r>
          </a:p>
        </p:txBody>
      </p:sp>
      <p:sp>
        <p:nvSpPr>
          <p:cNvPr id="33" name="TextBox 32"/>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Q1: PRODUCTS &amp; CATEGORIES GENERATING THE HIGHEST REVENUE AND PROFIT</a:t>
            </a:r>
          </a:p>
        </p:txBody>
      </p:sp>
      <p:pic>
        <p:nvPicPr>
          <p:cNvPr id="6" name="Picture 5" descr="revenue_category.png"/>
          <p:cNvPicPr>
            <a:picLocks noChangeAspect="1"/>
          </p:cNvPicPr>
          <p:nvPr/>
        </p:nvPicPr>
        <p:blipFill>
          <a:blip r:embed="rId2"/>
          <a:stretch>
            <a:fillRect/>
          </a:stretch>
        </p:blipFill>
        <p:spPr>
          <a:xfrm>
            <a:off x="411480" y="868680"/>
            <a:ext cx="5394960" cy="2659487"/>
          </a:xfrm>
          <a:prstGeom prst="rect">
            <a:avLst/>
          </a:prstGeom>
        </p:spPr>
      </p:pic>
      <p:pic>
        <p:nvPicPr>
          <p:cNvPr id="7" name="Picture 6" descr="profit_category.png"/>
          <p:cNvPicPr>
            <a:picLocks noChangeAspect="1"/>
          </p:cNvPicPr>
          <p:nvPr/>
        </p:nvPicPr>
        <p:blipFill>
          <a:blip r:embed="rId3"/>
          <a:stretch>
            <a:fillRect/>
          </a:stretch>
        </p:blipFill>
        <p:spPr>
          <a:xfrm>
            <a:off x="6355080" y="868680"/>
            <a:ext cx="5394960" cy="2659487"/>
          </a:xfrm>
          <a:prstGeom prst="rect">
            <a:avLst/>
          </a:prstGeom>
        </p:spPr>
      </p:pic>
      <p:sp>
        <p:nvSpPr>
          <p:cNvPr id="8" name="Rounded Rectangle 7"/>
          <p:cNvSpPr/>
          <p:nvPr/>
        </p:nvSpPr>
        <p:spPr>
          <a:xfrm>
            <a:off x="502920" y="4800600"/>
            <a:ext cx="5440680" cy="1417320"/>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4910328"/>
            <a:ext cx="5148072" cy="256032"/>
          </a:xfrm>
          <a:prstGeom prst="rect">
            <a:avLst/>
          </a:prstGeom>
          <a:noFill/>
        </p:spPr>
        <p:txBody>
          <a:bodyPr wrap="square" anchor="t">
            <a:spAutoFit/>
          </a:bodyPr>
          <a:lstStyle/>
          <a:p>
            <a:pPr algn="l">
              <a:defRPr sz="900" b="1">
                <a:solidFill>
                  <a:srgbClr val="182652"/>
                </a:solidFill>
                <a:latin typeface="Aptos"/>
              </a:defRPr>
            </a:pPr>
            <a:r>
              <a:t>Revenue leaders</a:t>
            </a:r>
          </a:p>
        </p:txBody>
      </p:sp>
      <p:sp>
        <p:nvSpPr>
          <p:cNvPr id="10" name="TextBox 9"/>
          <p:cNvSpPr txBox="1"/>
          <p:nvPr/>
        </p:nvSpPr>
        <p:spPr>
          <a:xfrm>
            <a:off x="649224" y="5193792"/>
            <a:ext cx="5148072" cy="246221"/>
          </a:xfrm>
          <a:prstGeom prst="rect">
            <a:avLst/>
          </a:prstGeom>
          <a:noFill/>
        </p:spPr>
        <p:txBody>
          <a:bodyPr wrap="square" anchor="t">
            <a:spAutoFit/>
          </a:bodyPr>
          <a:lstStyle/>
          <a:p>
            <a:pPr algn="l">
              <a:defRPr sz="840" b="0">
                <a:solidFill>
                  <a:srgbClr val="2D3037"/>
                </a:solidFill>
                <a:latin typeface="Aptos"/>
              </a:defRPr>
            </a:pPr>
            <a:r>
              <a:rPr sz="1000"/>
              <a:t>Top product: Chicken Biryani at ₹0.9L. Meals lead category revenue at ₹6.4L.</a:t>
            </a:r>
          </a:p>
        </p:txBody>
      </p:sp>
      <p:sp>
        <p:nvSpPr>
          <p:cNvPr id="11" name="Rounded Rectangle 10"/>
          <p:cNvSpPr/>
          <p:nvPr/>
        </p:nvSpPr>
        <p:spPr>
          <a:xfrm>
            <a:off x="6172200" y="4800600"/>
            <a:ext cx="5440680" cy="1417320"/>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18504" y="4910328"/>
            <a:ext cx="5148072" cy="256032"/>
          </a:xfrm>
          <a:prstGeom prst="rect">
            <a:avLst/>
          </a:prstGeom>
          <a:noFill/>
        </p:spPr>
        <p:txBody>
          <a:bodyPr wrap="square" anchor="t">
            <a:spAutoFit/>
          </a:bodyPr>
          <a:lstStyle/>
          <a:p>
            <a:pPr algn="l">
              <a:defRPr sz="900" b="1">
                <a:solidFill>
                  <a:srgbClr val="182652"/>
                </a:solidFill>
                <a:latin typeface="Aptos"/>
              </a:defRPr>
            </a:pPr>
            <a:r>
              <a:t>Profit leaders</a:t>
            </a:r>
          </a:p>
        </p:txBody>
      </p:sp>
      <p:sp>
        <p:nvSpPr>
          <p:cNvPr id="13" name="TextBox 12"/>
          <p:cNvSpPr txBox="1"/>
          <p:nvPr/>
        </p:nvSpPr>
        <p:spPr>
          <a:xfrm>
            <a:off x="6318504" y="5193792"/>
            <a:ext cx="5148072" cy="400110"/>
          </a:xfrm>
          <a:prstGeom prst="rect">
            <a:avLst/>
          </a:prstGeom>
          <a:noFill/>
        </p:spPr>
        <p:txBody>
          <a:bodyPr wrap="square" anchor="t">
            <a:spAutoFit/>
          </a:bodyPr>
          <a:lstStyle/>
          <a:p>
            <a:pPr algn="l">
              <a:defRPr sz="840" b="0">
                <a:solidFill>
                  <a:srgbClr val="2D3037"/>
                </a:solidFill>
                <a:latin typeface="Aptos"/>
              </a:defRPr>
            </a:pPr>
            <a:r>
              <a:rPr sz="1000" dirty="0"/>
              <a:t>Top product: Chicken Biryani at ₹0.3L. Beverages have the highest category margin at 58.8%, making them strong profit-supporting products.</a:t>
            </a:r>
          </a:p>
        </p:txBody>
      </p:sp>
      <p:sp>
        <p:nvSpPr>
          <p:cNvPr id="14" name="TextBox 13"/>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Q1: PRODUCT-LEVEL PERFORMANCE — REVENUE, PROFIT &amp; MARGIN</a:t>
            </a:r>
          </a:p>
        </p:txBody>
      </p:sp>
      <p:pic>
        <p:nvPicPr>
          <p:cNvPr id="6" name="Picture 5" descr="revenue_product.png"/>
          <p:cNvPicPr>
            <a:picLocks noChangeAspect="1"/>
          </p:cNvPicPr>
          <p:nvPr/>
        </p:nvPicPr>
        <p:blipFill>
          <a:blip r:embed="rId2"/>
          <a:stretch>
            <a:fillRect/>
          </a:stretch>
        </p:blipFill>
        <p:spPr>
          <a:xfrm>
            <a:off x="411480" y="868680"/>
            <a:ext cx="5577840" cy="2749639"/>
          </a:xfrm>
          <a:prstGeom prst="rect">
            <a:avLst/>
          </a:prstGeom>
        </p:spPr>
      </p:pic>
      <p:pic>
        <p:nvPicPr>
          <p:cNvPr id="7" name="Picture 6" descr="profit_product.png"/>
          <p:cNvPicPr>
            <a:picLocks noChangeAspect="1"/>
          </p:cNvPicPr>
          <p:nvPr/>
        </p:nvPicPr>
        <p:blipFill>
          <a:blip r:embed="rId3"/>
          <a:stretch>
            <a:fillRect/>
          </a:stretch>
        </p:blipFill>
        <p:spPr>
          <a:xfrm>
            <a:off x="6263640" y="868680"/>
            <a:ext cx="5486400" cy="2704563"/>
          </a:xfrm>
          <a:prstGeom prst="rect">
            <a:avLst/>
          </a:prstGeom>
        </p:spPr>
      </p:pic>
      <p:sp>
        <p:nvSpPr>
          <p:cNvPr id="8" name="TextBox 7"/>
          <p:cNvSpPr txBox="1"/>
          <p:nvPr/>
        </p:nvSpPr>
        <p:spPr>
          <a:xfrm>
            <a:off x="594360" y="4526280"/>
            <a:ext cx="1828800" cy="228600"/>
          </a:xfrm>
          <a:prstGeom prst="rect">
            <a:avLst/>
          </a:prstGeom>
          <a:noFill/>
        </p:spPr>
        <p:txBody>
          <a:bodyPr wrap="square" anchor="t">
            <a:spAutoFit/>
          </a:bodyPr>
          <a:lstStyle/>
          <a:p>
            <a:pPr algn="l">
              <a:defRPr sz="900" b="1">
                <a:solidFill>
                  <a:srgbClr val="182652"/>
                </a:solidFill>
                <a:latin typeface="Aptos"/>
              </a:defRPr>
            </a:pPr>
            <a:r>
              <a:t>Top revenue products</a:t>
            </a:r>
          </a:p>
        </p:txBody>
      </p:sp>
      <p:sp>
        <p:nvSpPr>
          <p:cNvPr id="9" name="TextBox 8"/>
          <p:cNvSpPr txBox="1"/>
          <p:nvPr/>
        </p:nvSpPr>
        <p:spPr>
          <a:xfrm>
            <a:off x="594360" y="4800600"/>
            <a:ext cx="5212080" cy="868680"/>
          </a:xfrm>
          <a:prstGeom prst="rect">
            <a:avLst/>
          </a:prstGeom>
          <a:noFill/>
        </p:spPr>
        <p:txBody>
          <a:bodyPr wrap="square" anchor="t">
            <a:spAutoFit/>
          </a:bodyPr>
          <a:lstStyle/>
          <a:p>
            <a:pPr algn="l">
              <a:defRPr sz="900" b="0">
                <a:solidFill>
                  <a:srgbClr val="2D3037"/>
                </a:solidFill>
                <a:latin typeface="Aptos"/>
              </a:defRPr>
            </a:pPr>
            <a:r>
              <a:t>1. Chicken Biryani — ₹87.6K</a:t>
            </a:r>
            <a:br/>
            <a:r>
              <a:t>2. Classic Burger — ₹86.6K</a:t>
            </a:r>
            <a:br/>
            <a:r>
              <a:t>3. Cheese Burger — ₹73.7K</a:t>
            </a:r>
          </a:p>
        </p:txBody>
      </p:sp>
      <p:sp>
        <p:nvSpPr>
          <p:cNvPr id="10" name="TextBox 9"/>
          <p:cNvSpPr txBox="1"/>
          <p:nvPr/>
        </p:nvSpPr>
        <p:spPr>
          <a:xfrm>
            <a:off x="6446520" y="4526280"/>
            <a:ext cx="1828800" cy="228600"/>
          </a:xfrm>
          <a:prstGeom prst="rect">
            <a:avLst/>
          </a:prstGeom>
          <a:noFill/>
        </p:spPr>
        <p:txBody>
          <a:bodyPr wrap="square" anchor="t">
            <a:spAutoFit/>
          </a:bodyPr>
          <a:lstStyle/>
          <a:p>
            <a:pPr algn="l">
              <a:defRPr sz="900" b="1">
                <a:solidFill>
                  <a:srgbClr val="182652"/>
                </a:solidFill>
                <a:latin typeface="Aptos"/>
              </a:defRPr>
            </a:pPr>
            <a:r>
              <a:t>Top profit products</a:t>
            </a:r>
          </a:p>
        </p:txBody>
      </p:sp>
      <p:sp>
        <p:nvSpPr>
          <p:cNvPr id="11" name="TextBox 10"/>
          <p:cNvSpPr txBox="1"/>
          <p:nvPr/>
        </p:nvSpPr>
        <p:spPr>
          <a:xfrm>
            <a:off x="6446520" y="4800600"/>
            <a:ext cx="5212080" cy="868680"/>
          </a:xfrm>
          <a:prstGeom prst="rect">
            <a:avLst/>
          </a:prstGeom>
          <a:noFill/>
        </p:spPr>
        <p:txBody>
          <a:bodyPr wrap="square" anchor="t">
            <a:spAutoFit/>
          </a:bodyPr>
          <a:lstStyle/>
          <a:p>
            <a:pPr algn="l">
              <a:defRPr sz="900" b="0">
                <a:solidFill>
                  <a:srgbClr val="2D3037"/>
                </a:solidFill>
                <a:latin typeface="Aptos"/>
              </a:defRPr>
            </a:pPr>
            <a:r>
              <a:t>1. Chicken Biryani — ₹34.4K</a:t>
            </a:r>
            <a:br/>
            <a:r>
              <a:t>2. Classic Burger — ₹32.7K</a:t>
            </a:r>
            <a:br/>
            <a:r>
              <a:t>3. Cheese Burger — ₹28.8K</a:t>
            </a:r>
          </a:p>
        </p:txBody>
      </p:sp>
      <p:sp>
        <p:nvSpPr>
          <p:cNvPr id="12" name="TextBox 11"/>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Q2: HOW DISCOUNTS AFFECT PROFITABILITY</a:t>
            </a:r>
          </a:p>
        </p:txBody>
      </p:sp>
      <p:pic>
        <p:nvPicPr>
          <p:cNvPr id="6" name="Picture 5" descr="discount_category.png"/>
          <p:cNvPicPr>
            <a:picLocks noChangeAspect="1"/>
          </p:cNvPicPr>
          <p:nvPr/>
        </p:nvPicPr>
        <p:blipFill>
          <a:blip r:embed="rId2"/>
          <a:stretch>
            <a:fillRect/>
          </a:stretch>
        </p:blipFill>
        <p:spPr>
          <a:xfrm>
            <a:off x="411480" y="914400"/>
            <a:ext cx="5394960" cy="2661830"/>
          </a:xfrm>
          <a:prstGeom prst="rect">
            <a:avLst/>
          </a:prstGeom>
        </p:spPr>
      </p:pic>
      <p:pic>
        <p:nvPicPr>
          <p:cNvPr id="7" name="Picture 6" descr="discount_tier.png"/>
          <p:cNvPicPr>
            <a:picLocks noChangeAspect="1"/>
          </p:cNvPicPr>
          <p:nvPr/>
        </p:nvPicPr>
        <p:blipFill>
          <a:blip r:embed="rId3"/>
          <a:stretch>
            <a:fillRect/>
          </a:stretch>
        </p:blipFill>
        <p:spPr>
          <a:xfrm>
            <a:off x="6172200" y="914400"/>
            <a:ext cx="5394960" cy="2659487"/>
          </a:xfrm>
          <a:prstGeom prst="rect">
            <a:avLst/>
          </a:prstGeom>
        </p:spPr>
      </p:pic>
      <p:sp>
        <p:nvSpPr>
          <p:cNvPr id="8" name="Rounded Rectangle 7"/>
          <p:cNvSpPr/>
          <p:nvPr/>
        </p:nvSpPr>
        <p:spPr>
          <a:xfrm>
            <a:off x="502920" y="4800600"/>
            <a:ext cx="5394960" cy="1325880"/>
          </a:xfrm>
          <a:prstGeom prst="roundRect">
            <a:avLst/>
          </a:prstGeom>
          <a:solidFill>
            <a:srgbClr val="FFFFFF"/>
          </a:solidFill>
          <a:ln w="12700">
            <a:solidFill>
              <a:srgbClr val="D24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4910328"/>
            <a:ext cx="5102352" cy="256032"/>
          </a:xfrm>
          <a:prstGeom prst="rect">
            <a:avLst/>
          </a:prstGeom>
          <a:noFill/>
        </p:spPr>
        <p:txBody>
          <a:bodyPr wrap="square" anchor="t">
            <a:spAutoFit/>
          </a:bodyPr>
          <a:lstStyle/>
          <a:p>
            <a:pPr algn="l">
              <a:defRPr sz="900" b="1">
                <a:solidFill>
                  <a:srgbClr val="182652"/>
                </a:solidFill>
                <a:latin typeface="Aptos"/>
              </a:defRPr>
            </a:pPr>
            <a:r>
              <a:t>Largest discount impact</a:t>
            </a:r>
          </a:p>
        </p:txBody>
      </p:sp>
      <p:sp>
        <p:nvSpPr>
          <p:cNvPr id="10" name="TextBox 9"/>
          <p:cNvSpPr txBox="1"/>
          <p:nvPr/>
        </p:nvSpPr>
        <p:spPr>
          <a:xfrm>
            <a:off x="649224" y="5193792"/>
            <a:ext cx="5102352" cy="400110"/>
          </a:xfrm>
          <a:prstGeom prst="rect">
            <a:avLst/>
          </a:prstGeom>
          <a:noFill/>
        </p:spPr>
        <p:txBody>
          <a:bodyPr wrap="square" anchor="t">
            <a:spAutoFit/>
          </a:bodyPr>
          <a:lstStyle/>
          <a:p>
            <a:pPr algn="l">
              <a:defRPr sz="840" b="0">
                <a:solidFill>
                  <a:srgbClr val="2D3037"/>
                </a:solidFill>
                <a:latin typeface="Aptos"/>
              </a:defRPr>
            </a:pPr>
            <a:r>
              <a:rPr sz="1000"/>
              <a:t>Chicken Biryani has the highest product-level discount impact at ₹0.1L, followed by Classic Burger (₹0.1L) and Paneer Wrap (₹0.1L).</a:t>
            </a:r>
          </a:p>
        </p:txBody>
      </p:sp>
      <p:sp>
        <p:nvSpPr>
          <p:cNvPr id="11" name="Rounded Rectangle 10"/>
          <p:cNvSpPr/>
          <p:nvPr/>
        </p:nvSpPr>
        <p:spPr>
          <a:xfrm>
            <a:off x="6172200" y="4800600"/>
            <a:ext cx="5394960" cy="1325880"/>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18504" y="4910328"/>
            <a:ext cx="5102352" cy="256032"/>
          </a:xfrm>
          <a:prstGeom prst="rect">
            <a:avLst/>
          </a:prstGeom>
          <a:noFill/>
        </p:spPr>
        <p:txBody>
          <a:bodyPr wrap="square" anchor="t">
            <a:spAutoFit/>
          </a:bodyPr>
          <a:lstStyle/>
          <a:p>
            <a:pPr algn="l">
              <a:defRPr sz="900" b="1">
                <a:solidFill>
                  <a:srgbClr val="182652"/>
                </a:solidFill>
                <a:latin typeface="Aptos"/>
              </a:defRPr>
            </a:pPr>
            <a:r>
              <a:t>Margin trend</a:t>
            </a:r>
          </a:p>
        </p:txBody>
      </p:sp>
      <p:sp>
        <p:nvSpPr>
          <p:cNvPr id="13" name="TextBox 12"/>
          <p:cNvSpPr txBox="1"/>
          <p:nvPr/>
        </p:nvSpPr>
        <p:spPr>
          <a:xfrm>
            <a:off x="6318504" y="5193792"/>
            <a:ext cx="5102352" cy="400110"/>
          </a:xfrm>
          <a:prstGeom prst="rect">
            <a:avLst/>
          </a:prstGeom>
          <a:noFill/>
        </p:spPr>
        <p:txBody>
          <a:bodyPr wrap="square" anchor="t">
            <a:spAutoFit/>
          </a:bodyPr>
          <a:lstStyle/>
          <a:p>
            <a:pPr algn="l">
              <a:defRPr sz="840" b="0">
                <a:solidFill>
                  <a:srgbClr val="2D3037"/>
                </a:solidFill>
                <a:latin typeface="Aptos"/>
              </a:defRPr>
            </a:pPr>
            <a:r>
              <a:rPr sz="1000"/>
              <a:t>Margin falls from 49.9% at 0% discount to 34.8% in the 21–25% tier. No transactions exceed 25% in this dataset.</a:t>
            </a:r>
          </a:p>
        </p:txBody>
      </p:sp>
      <p:sp>
        <p:nvSpPr>
          <p:cNvPr id="14" name="TextBox 13"/>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Q2: PRODUCT &amp; CATEGORY PROFITABILITY COMPARISON</a:t>
            </a:r>
          </a:p>
        </p:txBody>
      </p:sp>
      <p:sp>
        <p:nvSpPr>
          <p:cNvPr id="6" name="TextBox 5"/>
          <p:cNvSpPr txBox="1"/>
          <p:nvPr/>
        </p:nvSpPr>
        <p:spPr>
          <a:xfrm>
            <a:off x="548640" y="914400"/>
            <a:ext cx="5212080" cy="274320"/>
          </a:xfrm>
          <a:prstGeom prst="rect">
            <a:avLst/>
          </a:prstGeom>
          <a:noFill/>
        </p:spPr>
        <p:txBody>
          <a:bodyPr wrap="square" anchor="t">
            <a:spAutoFit/>
          </a:bodyPr>
          <a:lstStyle/>
          <a:p>
            <a:pPr algn="l">
              <a:defRPr sz="1000" b="1">
                <a:solidFill>
                  <a:srgbClr val="182652"/>
                </a:solidFill>
                <a:latin typeface="Aptos"/>
              </a:defRPr>
            </a:pPr>
            <a:r>
              <a:t>CATEGORY-LEVEL ANALYSIS</a:t>
            </a:r>
          </a:p>
        </p:txBody>
      </p:sp>
      <p:sp>
        <p:nvSpPr>
          <p:cNvPr id="7" name="TextBox 6"/>
          <p:cNvSpPr txBox="1"/>
          <p:nvPr/>
        </p:nvSpPr>
        <p:spPr>
          <a:xfrm>
            <a:off x="502920" y="1280160"/>
            <a:ext cx="1234440" cy="320040"/>
          </a:xfrm>
          <a:prstGeom prst="rect">
            <a:avLst/>
          </a:prstGeom>
          <a:noFill/>
        </p:spPr>
        <p:txBody>
          <a:bodyPr wrap="square" anchor="ctr">
            <a:spAutoFit/>
          </a:bodyPr>
          <a:lstStyle/>
          <a:p>
            <a:pPr algn="ctr">
              <a:defRPr sz="800" b="1">
                <a:solidFill>
                  <a:srgbClr val="FFFFFF"/>
                </a:solidFill>
                <a:latin typeface="Aptos"/>
              </a:defRPr>
            </a:pPr>
            <a:r>
              <a:t>Category</a:t>
            </a:r>
          </a:p>
        </p:txBody>
      </p:sp>
      <p:sp>
        <p:nvSpPr>
          <p:cNvPr id="8" name="Rectangle 7"/>
          <p:cNvSpPr/>
          <p:nvPr/>
        </p:nvSpPr>
        <p:spPr>
          <a:xfrm>
            <a:off x="502920" y="1280160"/>
            <a:ext cx="1234440" cy="32004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737360" y="1280160"/>
            <a:ext cx="1143000" cy="320040"/>
          </a:xfrm>
          <a:prstGeom prst="rect">
            <a:avLst/>
          </a:prstGeom>
          <a:noFill/>
        </p:spPr>
        <p:txBody>
          <a:bodyPr wrap="square" anchor="ctr">
            <a:spAutoFit/>
          </a:bodyPr>
          <a:lstStyle/>
          <a:p>
            <a:pPr algn="ctr">
              <a:defRPr sz="800" b="1">
                <a:solidFill>
                  <a:srgbClr val="FFFFFF"/>
                </a:solidFill>
                <a:latin typeface="Aptos"/>
              </a:defRPr>
            </a:pPr>
            <a:r>
              <a:t>Revenue</a:t>
            </a:r>
          </a:p>
        </p:txBody>
      </p:sp>
      <p:sp>
        <p:nvSpPr>
          <p:cNvPr id="10" name="Rectangle 9"/>
          <p:cNvSpPr/>
          <p:nvPr/>
        </p:nvSpPr>
        <p:spPr>
          <a:xfrm>
            <a:off x="1737360" y="1280160"/>
            <a:ext cx="1143000" cy="32004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0360" y="1280160"/>
            <a:ext cx="1143000" cy="320040"/>
          </a:xfrm>
          <a:prstGeom prst="rect">
            <a:avLst/>
          </a:prstGeom>
          <a:noFill/>
        </p:spPr>
        <p:txBody>
          <a:bodyPr wrap="square" anchor="ctr">
            <a:spAutoFit/>
          </a:bodyPr>
          <a:lstStyle/>
          <a:p>
            <a:pPr algn="ctr">
              <a:defRPr sz="800" b="1">
                <a:solidFill>
                  <a:srgbClr val="FFFFFF"/>
                </a:solidFill>
                <a:latin typeface="Aptos"/>
              </a:defRPr>
            </a:pPr>
            <a:r>
              <a:t>Profit</a:t>
            </a:r>
          </a:p>
        </p:txBody>
      </p:sp>
      <p:sp>
        <p:nvSpPr>
          <p:cNvPr id="12" name="Rectangle 11"/>
          <p:cNvSpPr/>
          <p:nvPr/>
        </p:nvSpPr>
        <p:spPr>
          <a:xfrm>
            <a:off x="2880360" y="1280160"/>
            <a:ext cx="1143000" cy="32004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3360" y="1280160"/>
            <a:ext cx="1005840" cy="320040"/>
          </a:xfrm>
          <a:prstGeom prst="rect">
            <a:avLst/>
          </a:prstGeom>
          <a:noFill/>
        </p:spPr>
        <p:txBody>
          <a:bodyPr wrap="square" anchor="ctr">
            <a:spAutoFit/>
          </a:bodyPr>
          <a:lstStyle/>
          <a:p>
            <a:pPr algn="ctr">
              <a:defRPr sz="800" b="1">
                <a:solidFill>
                  <a:srgbClr val="FFFFFF"/>
                </a:solidFill>
                <a:latin typeface="Aptos"/>
              </a:defRPr>
            </a:pPr>
            <a:r>
              <a:t>Margin</a:t>
            </a:r>
          </a:p>
        </p:txBody>
      </p:sp>
      <p:sp>
        <p:nvSpPr>
          <p:cNvPr id="14" name="Rectangle 13"/>
          <p:cNvSpPr/>
          <p:nvPr/>
        </p:nvSpPr>
        <p:spPr>
          <a:xfrm>
            <a:off x="4023360" y="1280160"/>
            <a:ext cx="1005840" cy="32004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0" y="1280160"/>
            <a:ext cx="1234440" cy="320040"/>
          </a:xfrm>
          <a:prstGeom prst="rect">
            <a:avLst/>
          </a:prstGeom>
          <a:noFill/>
        </p:spPr>
        <p:txBody>
          <a:bodyPr wrap="square" anchor="ctr">
            <a:spAutoFit/>
          </a:bodyPr>
          <a:lstStyle/>
          <a:p>
            <a:pPr algn="ctr">
              <a:defRPr sz="800" b="1">
                <a:solidFill>
                  <a:srgbClr val="FFFFFF"/>
                </a:solidFill>
                <a:latin typeface="Aptos"/>
              </a:defRPr>
            </a:pPr>
            <a:r>
              <a:t>Disc. Impact</a:t>
            </a:r>
          </a:p>
        </p:txBody>
      </p:sp>
      <p:sp>
        <p:nvSpPr>
          <p:cNvPr id="16" name="Rectangle 15"/>
          <p:cNvSpPr/>
          <p:nvPr/>
        </p:nvSpPr>
        <p:spPr>
          <a:xfrm>
            <a:off x="5029200" y="1280160"/>
            <a:ext cx="1234440" cy="32004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1618488"/>
            <a:ext cx="1234440" cy="411480"/>
          </a:xfrm>
          <a:prstGeom prst="rect">
            <a:avLst/>
          </a:prstGeom>
          <a:noFill/>
        </p:spPr>
        <p:txBody>
          <a:bodyPr wrap="square" anchor="ctr">
            <a:spAutoFit/>
          </a:bodyPr>
          <a:lstStyle/>
          <a:p>
            <a:pPr algn="ctr">
              <a:defRPr sz="800" b="1">
                <a:solidFill>
                  <a:srgbClr val="2D3037"/>
                </a:solidFill>
                <a:latin typeface="Aptos"/>
              </a:defRPr>
            </a:pPr>
            <a:r>
              <a:t>Meals</a:t>
            </a:r>
          </a:p>
        </p:txBody>
      </p:sp>
      <p:sp>
        <p:nvSpPr>
          <p:cNvPr id="18" name="TextBox 17"/>
          <p:cNvSpPr txBox="1"/>
          <p:nvPr/>
        </p:nvSpPr>
        <p:spPr>
          <a:xfrm>
            <a:off x="1737360" y="1618488"/>
            <a:ext cx="1143000" cy="411480"/>
          </a:xfrm>
          <a:prstGeom prst="rect">
            <a:avLst/>
          </a:prstGeom>
          <a:noFill/>
        </p:spPr>
        <p:txBody>
          <a:bodyPr wrap="square" anchor="ctr">
            <a:spAutoFit/>
          </a:bodyPr>
          <a:lstStyle/>
          <a:p>
            <a:pPr algn="ctr">
              <a:defRPr sz="800" b="0">
                <a:solidFill>
                  <a:srgbClr val="2D3037"/>
                </a:solidFill>
                <a:latin typeface="Aptos"/>
              </a:defRPr>
            </a:pPr>
            <a:r>
              <a:t>₹637K</a:t>
            </a:r>
          </a:p>
        </p:txBody>
      </p:sp>
      <p:sp>
        <p:nvSpPr>
          <p:cNvPr id="19" name="TextBox 18"/>
          <p:cNvSpPr txBox="1"/>
          <p:nvPr/>
        </p:nvSpPr>
        <p:spPr>
          <a:xfrm>
            <a:off x="2880360" y="1618488"/>
            <a:ext cx="1143000" cy="411480"/>
          </a:xfrm>
          <a:prstGeom prst="rect">
            <a:avLst/>
          </a:prstGeom>
          <a:noFill/>
        </p:spPr>
        <p:txBody>
          <a:bodyPr wrap="square" anchor="ctr">
            <a:spAutoFit/>
          </a:bodyPr>
          <a:lstStyle/>
          <a:p>
            <a:pPr algn="ctr">
              <a:defRPr sz="800" b="0">
                <a:solidFill>
                  <a:srgbClr val="2D3037"/>
                </a:solidFill>
                <a:latin typeface="Aptos"/>
              </a:defRPr>
            </a:pPr>
            <a:r>
              <a:t>₹246K</a:t>
            </a:r>
          </a:p>
        </p:txBody>
      </p:sp>
      <p:sp>
        <p:nvSpPr>
          <p:cNvPr id="20" name="TextBox 19"/>
          <p:cNvSpPr txBox="1"/>
          <p:nvPr/>
        </p:nvSpPr>
        <p:spPr>
          <a:xfrm>
            <a:off x="4023360" y="1618488"/>
            <a:ext cx="1005840" cy="411480"/>
          </a:xfrm>
          <a:prstGeom prst="rect">
            <a:avLst/>
          </a:prstGeom>
          <a:noFill/>
        </p:spPr>
        <p:txBody>
          <a:bodyPr wrap="square" anchor="ctr">
            <a:spAutoFit/>
          </a:bodyPr>
          <a:lstStyle/>
          <a:p>
            <a:pPr algn="ctr">
              <a:defRPr sz="800" b="0">
                <a:solidFill>
                  <a:srgbClr val="2D3037"/>
                </a:solidFill>
                <a:latin typeface="Aptos"/>
              </a:defRPr>
            </a:pPr>
            <a:r>
              <a:t>38.6%</a:t>
            </a:r>
          </a:p>
        </p:txBody>
      </p:sp>
      <p:sp>
        <p:nvSpPr>
          <p:cNvPr id="21" name="TextBox 20"/>
          <p:cNvSpPr txBox="1"/>
          <p:nvPr/>
        </p:nvSpPr>
        <p:spPr>
          <a:xfrm>
            <a:off x="5029200" y="1618488"/>
            <a:ext cx="1234440" cy="411480"/>
          </a:xfrm>
          <a:prstGeom prst="rect">
            <a:avLst/>
          </a:prstGeom>
          <a:noFill/>
        </p:spPr>
        <p:txBody>
          <a:bodyPr wrap="square" anchor="ctr">
            <a:spAutoFit/>
          </a:bodyPr>
          <a:lstStyle/>
          <a:p>
            <a:pPr algn="ctr">
              <a:defRPr sz="800" b="0">
                <a:solidFill>
                  <a:srgbClr val="2D3037"/>
                </a:solidFill>
                <a:latin typeface="Aptos"/>
              </a:defRPr>
            </a:pPr>
            <a:r>
              <a:t>₹60K</a:t>
            </a:r>
          </a:p>
        </p:txBody>
      </p:sp>
      <p:sp>
        <p:nvSpPr>
          <p:cNvPr id="22" name="TextBox 21"/>
          <p:cNvSpPr txBox="1"/>
          <p:nvPr/>
        </p:nvSpPr>
        <p:spPr>
          <a:xfrm>
            <a:off x="502920" y="2121408"/>
            <a:ext cx="1234440" cy="411480"/>
          </a:xfrm>
          <a:prstGeom prst="rect">
            <a:avLst/>
          </a:prstGeom>
          <a:noFill/>
        </p:spPr>
        <p:txBody>
          <a:bodyPr wrap="square" anchor="ctr">
            <a:spAutoFit/>
          </a:bodyPr>
          <a:lstStyle/>
          <a:p>
            <a:pPr algn="ctr">
              <a:defRPr sz="800" b="1">
                <a:solidFill>
                  <a:srgbClr val="2D3037"/>
                </a:solidFill>
                <a:latin typeface="Aptos"/>
              </a:defRPr>
            </a:pPr>
            <a:r>
              <a:t>Beverages</a:t>
            </a:r>
          </a:p>
        </p:txBody>
      </p:sp>
      <p:sp>
        <p:nvSpPr>
          <p:cNvPr id="23" name="TextBox 22"/>
          <p:cNvSpPr txBox="1"/>
          <p:nvPr/>
        </p:nvSpPr>
        <p:spPr>
          <a:xfrm>
            <a:off x="1737360" y="2121408"/>
            <a:ext cx="1143000" cy="411480"/>
          </a:xfrm>
          <a:prstGeom prst="rect">
            <a:avLst/>
          </a:prstGeom>
          <a:noFill/>
        </p:spPr>
        <p:txBody>
          <a:bodyPr wrap="square" anchor="ctr">
            <a:spAutoFit/>
          </a:bodyPr>
          <a:lstStyle/>
          <a:p>
            <a:pPr algn="ctr">
              <a:defRPr sz="800" b="0">
                <a:solidFill>
                  <a:srgbClr val="2D3037"/>
                </a:solidFill>
                <a:latin typeface="Aptos"/>
              </a:defRPr>
            </a:pPr>
            <a:r>
              <a:t>₹191K</a:t>
            </a:r>
          </a:p>
        </p:txBody>
      </p:sp>
      <p:sp>
        <p:nvSpPr>
          <p:cNvPr id="24" name="TextBox 23"/>
          <p:cNvSpPr txBox="1"/>
          <p:nvPr/>
        </p:nvSpPr>
        <p:spPr>
          <a:xfrm>
            <a:off x="2880360" y="2121408"/>
            <a:ext cx="1143000" cy="411480"/>
          </a:xfrm>
          <a:prstGeom prst="rect">
            <a:avLst/>
          </a:prstGeom>
          <a:noFill/>
        </p:spPr>
        <p:txBody>
          <a:bodyPr wrap="square" anchor="ctr">
            <a:spAutoFit/>
          </a:bodyPr>
          <a:lstStyle/>
          <a:p>
            <a:pPr algn="ctr">
              <a:defRPr sz="800" b="0">
                <a:solidFill>
                  <a:srgbClr val="2D3037"/>
                </a:solidFill>
                <a:latin typeface="Aptos"/>
              </a:defRPr>
            </a:pPr>
            <a:r>
              <a:t>₹112K</a:t>
            </a:r>
          </a:p>
        </p:txBody>
      </p:sp>
      <p:sp>
        <p:nvSpPr>
          <p:cNvPr id="25" name="TextBox 24"/>
          <p:cNvSpPr txBox="1"/>
          <p:nvPr/>
        </p:nvSpPr>
        <p:spPr>
          <a:xfrm>
            <a:off x="4023360" y="2121408"/>
            <a:ext cx="1005840" cy="411480"/>
          </a:xfrm>
          <a:prstGeom prst="rect">
            <a:avLst/>
          </a:prstGeom>
          <a:noFill/>
        </p:spPr>
        <p:txBody>
          <a:bodyPr wrap="square" anchor="ctr">
            <a:spAutoFit/>
          </a:bodyPr>
          <a:lstStyle/>
          <a:p>
            <a:pPr algn="ctr">
              <a:defRPr sz="800" b="0">
                <a:solidFill>
                  <a:srgbClr val="2D3037"/>
                </a:solidFill>
                <a:latin typeface="Aptos"/>
              </a:defRPr>
            </a:pPr>
            <a:r>
              <a:t>58.8%</a:t>
            </a:r>
          </a:p>
        </p:txBody>
      </p:sp>
      <p:sp>
        <p:nvSpPr>
          <p:cNvPr id="26" name="TextBox 25"/>
          <p:cNvSpPr txBox="1"/>
          <p:nvPr/>
        </p:nvSpPr>
        <p:spPr>
          <a:xfrm>
            <a:off x="5029200" y="2121408"/>
            <a:ext cx="1234440" cy="411480"/>
          </a:xfrm>
          <a:prstGeom prst="rect">
            <a:avLst/>
          </a:prstGeom>
          <a:noFill/>
        </p:spPr>
        <p:txBody>
          <a:bodyPr wrap="square" anchor="ctr">
            <a:spAutoFit/>
          </a:bodyPr>
          <a:lstStyle/>
          <a:p>
            <a:pPr algn="ctr">
              <a:defRPr sz="800" b="0">
                <a:solidFill>
                  <a:srgbClr val="2D3037"/>
                </a:solidFill>
                <a:latin typeface="Aptos"/>
              </a:defRPr>
            </a:pPr>
            <a:r>
              <a:t>₹19K</a:t>
            </a:r>
          </a:p>
        </p:txBody>
      </p:sp>
      <p:sp>
        <p:nvSpPr>
          <p:cNvPr id="27" name="TextBox 26"/>
          <p:cNvSpPr txBox="1"/>
          <p:nvPr/>
        </p:nvSpPr>
        <p:spPr>
          <a:xfrm>
            <a:off x="502920" y="2624328"/>
            <a:ext cx="1234440" cy="411480"/>
          </a:xfrm>
          <a:prstGeom prst="rect">
            <a:avLst/>
          </a:prstGeom>
          <a:noFill/>
        </p:spPr>
        <p:txBody>
          <a:bodyPr wrap="square" anchor="ctr">
            <a:spAutoFit/>
          </a:bodyPr>
          <a:lstStyle/>
          <a:p>
            <a:pPr algn="ctr">
              <a:defRPr sz="800" b="1">
                <a:solidFill>
                  <a:srgbClr val="2D3037"/>
                </a:solidFill>
                <a:latin typeface="Aptos"/>
              </a:defRPr>
            </a:pPr>
            <a:r>
              <a:t>Snacks</a:t>
            </a:r>
          </a:p>
        </p:txBody>
      </p:sp>
      <p:sp>
        <p:nvSpPr>
          <p:cNvPr id="28" name="TextBox 27"/>
          <p:cNvSpPr txBox="1"/>
          <p:nvPr/>
        </p:nvSpPr>
        <p:spPr>
          <a:xfrm>
            <a:off x="1737360" y="2624328"/>
            <a:ext cx="1143000" cy="411480"/>
          </a:xfrm>
          <a:prstGeom prst="rect">
            <a:avLst/>
          </a:prstGeom>
          <a:noFill/>
        </p:spPr>
        <p:txBody>
          <a:bodyPr wrap="square" anchor="ctr">
            <a:spAutoFit/>
          </a:bodyPr>
          <a:lstStyle/>
          <a:p>
            <a:pPr algn="ctr">
              <a:defRPr sz="800" b="0">
                <a:solidFill>
                  <a:srgbClr val="2D3037"/>
                </a:solidFill>
                <a:latin typeface="Aptos"/>
              </a:defRPr>
            </a:pPr>
            <a:r>
              <a:t>₹165K</a:t>
            </a:r>
          </a:p>
        </p:txBody>
      </p:sp>
      <p:sp>
        <p:nvSpPr>
          <p:cNvPr id="29" name="TextBox 28"/>
          <p:cNvSpPr txBox="1"/>
          <p:nvPr/>
        </p:nvSpPr>
        <p:spPr>
          <a:xfrm>
            <a:off x="2880360" y="2624328"/>
            <a:ext cx="1143000" cy="411480"/>
          </a:xfrm>
          <a:prstGeom prst="rect">
            <a:avLst/>
          </a:prstGeom>
          <a:noFill/>
        </p:spPr>
        <p:txBody>
          <a:bodyPr wrap="square" anchor="ctr">
            <a:spAutoFit/>
          </a:bodyPr>
          <a:lstStyle/>
          <a:p>
            <a:pPr algn="ctr">
              <a:defRPr sz="800" b="0">
                <a:solidFill>
                  <a:srgbClr val="2D3037"/>
                </a:solidFill>
                <a:latin typeface="Aptos"/>
              </a:defRPr>
            </a:pPr>
            <a:r>
              <a:t>₹83K</a:t>
            </a:r>
          </a:p>
        </p:txBody>
      </p:sp>
      <p:sp>
        <p:nvSpPr>
          <p:cNvPr id="30" name="TextBox 29"/>
          <p:cNvSpPr txBox="1"/>
          <p:nvPr/>
        </p:nvSpPr>
        <p:spPr>
          <a:xfrm>
            <a:off x="4023360" y="2624328"/>
            <a:ext cx="1005840" cy="411480"/>
          </a:xfrm>
          <a:prstGeom prst="rect">
            <a:avLst/>
          </a:prstGeom>
          <a:noFill/>
        </p:spPr>
        <p:txBody>
          <a:bodyPr wrap="square" anchor="ctr">
            <a:spAutoFit/>
          </a:bodyPr>
          <a:lstStyle/>
          <a:p>
            <a:pPr algn="ctr">
              <a:defRPr sz="800" b="0">
                <a:solidFill>
                  <a:srgbClr val="2D3037"/>
                </a:solidFill>
                <a:latin typeface="Aptos"/>
              </a:defRPr>
            </a:pPr>
            <a:r>
              <a:t>50.4%</a:t>
            </a:r>
          </a:p>
        </p:txBody>
      </p:sp>
      <p:sp>
        <p:nvSpPr>
          <p:cNvPr id="31" name="TextBox 30"/>
          <p:cNvSpPr txBox="1"/>
          <p:nvPr/>
        </p:nvSpPr>
        <p:spPr>
          <a:xfrm>
            <a:off x="5029200" y="2624328"/>
            <a:ext cx="1234440" cy="411480"/>
          </a:xfrm>
          <a:prstGeom prst="rect">
            <a:avLst/>
          </a:prstGeom>
          <a:noFill/>
        </p:spPr>
        <p:txBody>
          <a:bodyPr wrap="square" anchor="ctr">
            <a:spAutoFit/>
          </a:bodyPr>
          <a:lstStyle/>
          <a:p>
            <a:pPr algn="ctr">
              <a:defRPr sz="800" b="0">
                <a:solidFill>
                  <a:srgbClr val="2D3037"/>
                </a:solidFill>
                <a:latin typeface="Aptos"/>
              </a:defRPr>
            </a:pPr>
            <a:r>
              <a:t>₹17K</a:t>
            </a:r>
          </a:p>
        </p:txBody>
      </p:sp>
      <p:sp>
        <p:nvSpPr>
          <p:cNvPr id="32" name="TextBox 31"/>
          <p:cNvSpPr txBox="1"/>
          <p:nvPr/>
        </p:nvSpPr>
        <p:spPr>
          <a:xfrm>
            <a:off x="502920" y="3127248"/>
            <a:ext cx="1234440" cy="411480"/>
          </a:xfrm>
          <a:prstGeom prst="rect">
            <a:avLst/>
          </a:prstGeom>
          <a:noFill/>
        </p:spPr>
        <p:txBody>
          <a:bodyPr wrap="square" anchor="ctr">
            <a:spAutoFit/>
          </a:bodyPr>
          <a:lstStyle/>
          <a:p>
            <a:pPr algn="ctr">
              <a:defRPr sz="800" b="1">
                <a:solidFill>
                  <a:srgbClr val="2D3037"/>
                </a:solidFill>
                <a:latin typeface="Aptos"/>
              </a:defRPr>
            </a:pPr>
            <a:r>
              <a:t>Desserts</a:t>
            </a:r>
          </a:p>
        </p:txBody>
      </p:sp>
      <p:sp>
        <p:nvSpPr>
          <p:cNvPr id="33" name="TextBox 32"/>
          <p:cNvSpPr txBox="1"/>
          <p:nvPr/>
        </p:nvSpPr>
        <p:spPr>
          <a:xfrm>
            <a:off x="1737360" y="3127248"/>
            <a:ext cx="1143000" cy="411480"/>
          </a:xfrm>
          <a:prstGeom prst="rect">
            <a:avLst/>
          </a:prstGeom>
          <a:noFill/>
        </p:spPr>
        <p:txBody>
          <a:bodyPr wrap="square" anchor="ctr">
            <a:spAutoFit/>
          </a:bodyPr>
          <a:lstStyle/>
          <a:p>
            <a:pPr algn="ctr">
              <a:defRPr sz="800" b="0">
                <a:solidFill>
                  <a:srgbClr val="2D3037"/>
                </a:solidFill>
                <a:latin typeface="Aptos"/>
              </a:defRPr>
            </a:pPr>
            <a:r>
              <a:t>₹83K</a:t>
            </a:r>
          </a:p>
        </p:txBody>
      </p:sp>
      <p:sp>
        <p:nvSpPr>
          <p:cNvPr id="34" name="TextBox 33"/>
          <p:cNvSpPr txBox="1"/>
          <p:nvPr/>
        </p:nvSpPr>
        <p:spPr>
          <a:xfrm>
            <a:off x="2880360" y="3127248"/>
            <a:ext cx="1143000" cy="411480"/>
          </a:xfrm>
          <a:prstGeom prst="rect">
            <a:avLst/>
          </a:prstGeom>
          <a:noFill/>
        </p:spPr>
        <p:txBody>
          <a:bodyPr wrap="square" anchor="ctr">
            <a:spAutoFit/>
          </a:bodyPr>
          <a:lstStyle/>
          <a:p>
            <a:pPr algn="ctr">
              <a:defRPr sz="800" b="0">
                <a:solidFill>
                  <a:srgbClr val="2D3037"/>
                </a:solidFill>
                <a:latin typeface="Aptos"/>
              </a:defRPr>
            </a:pPr>
            <a:r>
              <a:t>₹43K</a:t>
            </a:r>
          </a:p>
        </p:txBody>
      </p:sp>
      <p:sp>
        <p:nvSpPr>
          <p:cNvPr id="35" name="TextBox 34"/>
          <p:cNvSpPr txBox="1"/>
          <p:nvPr/>
        </p:nvSpPr>
        <p:spPr>
          <a:xfrm>
            <a:off x="4023360" y="3127248"/>
            <a:ext cx="1005840" cy="411480"/>
          </a:xfrm>
          <a:prstGeom prst="rect">
            <a:avLst/>
          </a:prstGeom>
          <a:noFill/>
        </p:spPr>
        <p:txBody>
          <a:bodyPr wrap="square" anchor="ctr">
            <a:spAutoFit/>
          </a:bodyPr>
          <a:lstStyle/>
          <a:p>
            <a:pPr algn="ctr">
              <a:defRPr sz="800" b="0">
                <a:solidFill>
                  <a:srgbClr val="2D3037"/>
                </a:solidFill>
                <a:latin typeface="Aptos"/>
              </a:defRPr>
            </a:pPr>
            <a:r>
              <a:t>52.0%</a:t>
            </a:r>
          </a:p>
        </p:txBody>
      </p:sp>
      <p:sp>
        <p:nvSpPr>
          <p:cNvPr id="36" name="TextBox 35"/>
          <p:cNvSpPr txBox="1"/>
          <p:nvPr/>
        </p:nvSpPr>
        <p:spPr>
          <a:xfrm>
            <a:off x="5029200" y="3127248"/>
            <a:ext cx="1234440" cy="411480"/>
          </a:xfrm>
          <a:prstGeom prst="rect">
            <a:avLst/>
          </a:prstGeom>
          <a:noFill/>
        </p:spPr>
        <p:txBody>
          <a:bodyPr wrap="square" anchor="ctr">
            <a:spAutoFit/>
          </a:bodyPr>
          <a:lstStyle/>
          <a:p>
            <a:pPr algn="ctr">
              <a:defRPr sz="800" b="0">
                <a:solidFill>
                  <a:srgbClr val="2D3037"/>
                </a:solidFill>
                <a:latin typeface="Aptos"/>
              </a:defRPr>
            </a:pPr>
            <a:r>
              <a:t>₹7K</a:t>
            </a:r>
          </a:p>
        </p:txBody>
      </p:sp>
      <p:sp>
        <p:nvSpPr>
          <p:cNvPr id="37" name="TextBox 36"/>
          <p:cNvSpPr txBox="1"/>
          <p:nvPr/>
        </p:nvSpPr>
        <p:spPr>
          <a:xfrm>
            <a:off x="6217920" y="914400"/>
            <a:ext cx="5212080" cy="274320"/>
          </a:xfrm>
          <a:prstGeom prst="rect">
            <a:avLst/>
          </a:prstGeom>
          <a:noFill/>
        </p:spPr>
        <p:txBody>
          <a:bodyPr wrap="square" anchor="t">
            <a:spAutoFit/>
          </a:bodyPr>
          <a:lstStyle/>
          <a:p>
            <a:pPr algn="l">
              <a:defRPr sz="1000" b="1">
                <a:solidFill>
                  <a:srgbClr val="182652"/>
                </a:solidFill>
                <a:latin typeface="Aptos"/>
              </a:defRPr>
            </a:pPr>
            <a:r>
              <a:t>PRODUCT-LEVEL HIGHLIGHTS</a:t>
            </a:r>
          </a:p>
        </p:txBody>
      </p:sp>
      <p:sp>
        <p:nvSpPr>
          <p:cNvPr id="38" name="Rectangle 37"/>
          <p:cNvSpPr/>
          <p:nvPr/>
        </p:nvSpPr>
        <p:spPr>
          <a:xfrm>
            <a:off x="6172200" y="1280160"/>
            <a:ext cx="1965960" cy="320040"/>
          </a:xfrm>
          <a:prstGeom prst="rect">
            <a:avLst/>
          </a:prstGeom>
          <a:solidFill>
            <a:srgbClr val="16A1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1280160"/>
            <a:ext cx="1965960" cy="320040"/>
          </a:xfrm>
          <a:prstGeom prst="rect">
            <a:avLst/>
          </a:prstGeom>
          <a:noFill/>
        </p:spPr>
        <p:txBody>
          <a:bodyPr wrap="square" anchor="ctr">
            <a:spAutoFit/>
          </a:bodyPr>
          <a:lstStyle/>
          <a:p>
            <a:pPr algn="ctr">
              <a:defRPr sz="800" b="1">
                <a:solidFill>
                  <a:srgbClr val="FFFFFF"/>
                </a:solidFill>
                <a:latin typeface="Aptos"/>
              </a:defRPr>
            </a:pPr>
            <a:r>
              <a:t>Product</a:t>
            </a:r>
          </a:p>
        </p:txBody>
      </p:sp>
      <p:sp>
        <p:nvSpPr>
          <p:cNvPr id="40" name="Rectangle 39"/>
          <p:cNvSpPr/>
          <p:nvPr/>
        </p:nvSpPr>
        <p:spPr>
          <a:xfrm>
            <a:off x="8138160" y="1280160"/>
            <a:ext cx="960120" cy="320040"/>
          </a:xfrm>
          <a:prstGeom prst="rect">
            <a:avLst/>
          </a:prstGeom>
          <a:solidFill>
            <a:srgbClr val="16A1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138160" y="1280160"/>
            <a:ext cx="960120" cy="320040"/>
          </a:xfrm>
          <a:prstGeom prst="rect">
            <a:avLst/>
          </a:prstGeom>
          <a:noFill/>
        </p:spPr>
        <p:txBody>
          <a:bodyPr wrap="square" anchor="ctr">
            <a:spAutoFit/>
          </a:bodyPr>
          <a:lstStyle/>
          <a:p>
            <a:pPr algn="ctr">
              <a:defRPr sz="800" b="1">
                <a:solidFill>
                  <a:srgbClr val="FFFFFF"/>
                </a:solidFill>
                <a:latin typeface="Aptos"/>
              </a:defRPr>
            </a:pPr>
            <a:r>
              <a:t>Profit</a:t>
            </a:r>
          </a:p>
        </p:txBody>
      </p:sp>
      <p:sp>
        <p:nvSpPr>
          <p:cNvPr id="42" name="Rectangle 41"/>
          <p:cNvSpPr/>
          <p:nvPr/>
        </p:nvSpPr>
        <p:spPr>
          <a:xfrm>
            <a:off x="9098280" y="1280160"/>
            <a:ext cx="914400" cy="320040"/>
          </a:xfrm>
          <a:prstGeom prst="rect">
            <a:avLst/>
          </a:prstGeom>
          <a:solidFill>
            <a:srgbClr val="16A1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98280" y="1280160"/>
            <a:ext cx="914400" cy="320040"/>
          </a:xfrm>
          <a:prstGeom prst="rect">
            <a:avLst/>
          </a:prstGeom>
          <a:noFill/>
        </p:spPr>
        <p:txBody>
          <a:bodyPr wrap="square" anchor="ctr">
            <a:spAutoFit/>
          </a:bodyPr>
          <a:lstStyle/>
          <a:p>
            <a:pPr algn="ctr">
              <a:defRPr sz="800" b="1">
                <a:solidFill>
                  <a:srgbClr val="FFFFFF"/>
                </a:solidFill>
                <a:latin typeface="Aptos"/>
              </a:defRPr>
            </a:pPr>
            <a:r>
              <a:t>Margin</a:t>
            </a:r>
          </a:p>
        </p:txBody>
      </p:sp>
      <p:sp>
        <p:nvSpPr>
          <p:cNvPr id="44" name="Rectangle 43"/>
          <p:cNvSpPr/>
          <p:nvPr/>
        </p:nvSpPr>
        <p:spPr>
          <a:xfrm>
            <a:off x="10012680" y="1280160"/>
            <a:ext cx="868680" cy="320040"/>
          </a:xfrm>
          <a:prstGeom prst="rect">
            <a:avLst/>
          </a:prstGeom>
          <a:solidFill>
            <a:srgbClr val="16A1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012680" y="1280160"/>
            <a:ext cx="868680" cy="320040"/>
          </a:xfrm>
          <a:prstGeom prst="rect">
            <a:avLst/>
          </a:prstGeom>
          <a:noFill/>
        </p:spPr>
        <p:txBody>
          <a:bodyPr wrap="square" anchor="ctr">
            <a:spAutoFit/>
          </a:bodyPr>
          <a:lstStyle/>
          <a:p>
            <a:pPr algn="ctr">
              <a:defRPr sz="800" b="1">
                <a:solidFill>
                  <a:srgbClr val="FFFFFF"/>
                </a:solidFill>
                <a:latin typeface="Aptos"/>
              </a:defRPr>
            </a:pPr>
            <a:r>
              <a:t>Units</a:t>
            </a:r>
          </a:p>
        </p:txBody>
      </p:sp>
      <p:sp>
        <p:nvSpPr>
          <p:cNvPr id="46" name="Rectangle 45"/>
          <p:cNvSpPr/>
          <p:nvPr/>
        </p:nvSpPr>
        <p:spPr>
          <a:xfrm>
            <a:off x="10881360" y="1280160"/>
            <a:ext cx="914400" cy="320040"/>
          </a:xfrm>
          <a:prstGeom prst="rect">
            <a:avLst/>
          </a:prstGeom>
          <a:solidFill>
            <a:srgbClr val="16A1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881360" y="1280160"/>
            <a:ext cx="914400" cy="320040"/>
          </a:xfrm>
          <a:prstGeom prst="rect">
            <a:avLst/>
          </a:prstGeom>
          <a:noFill/>
        </p:spPr>
        <p:txBody>
          <a:bodyPr wrap="square" anchor="ctr">
            <a:spAutoFit/>
          </a:bodyPr>
          <a:lstStyle/>
          <a:p>
            <a:pPr algn="ctr">
              <a:defRPr sz="800" b="1">
                <a:solidFill>
                  <a:srgbClr val="FFFFFF"/>
                </a:solidFill>
                <a:latin typeface="Aptos"/>
              </a:defRPr>
            </a:pPr>
            <a:r>
              <a:t>Avg Disc.</a:t>
            </a:r>
          </a:p>
        </p:txBody>
      </p:sp>
      <p:sp>
        <p:nvSpPr>
          <p:cNvPr id="48" name="TextBox 47"/>
          <p:cNvSpPr txBox="1"/>
          <p:nvPr/>
        </p:nvSpPr>
        <p:spPr>
          <a:xfrm>
            <a:off x="6172200" y="1618488"/>
            <a:ext cx="1965960" cy="411480"/>
          </a:xfrm>
          <a:prstGeom prst="rect">
            <a:avLst/>
          </a:prstGeom>
          <a:noFill/>
        </p:spPr>
        <p:txBody>
          <a:bodyPr wrap="square" anchor="ctr">
            <a:spAutoFit/>
          </a:bodyPr>
          <a:lstStyle/>
          <a:p>
            <a:pPr algn="ctr">
              <a:defRPr sz="780" b="1">
                <a:solidFill>
                  <a:srgbClr val="2D3037"/>
                </a:solidFill>
                <a:latin typeface="Aptos"/>
              </a:defRPr>
            </a:pPr>
            <a:r>
              <a:t>Chicken Biryani</a:t>
            </a:r>
          </a:p>
        </p:txBody>
      </p:sp>
      <p:sp>
        <p:nvSpPr>
          <p:cNvPr id="49" name="TextBox 48"/>
          <p:cNvSpPr txBox="1"/>
          <p:nvPr/>
        </p:nvSpPr>
        <p:spPr>
          <a:xfrm>
            <a:off x="8138160" y="1618488"/>
            <a:ext cx="960120" cy="411480"/>
          </a:xfrm>
          <a:prstGeom prst="rect">
            <a:avLst/>
          </a:prstGeom>
          <a:noFill/>
        </p:spPr>
        <p:txBody>
          <a:bodyPr wrap="square" anchor="ctr">
            <a:spAutoFit/>
          </a:bodyPr>
          <a:lstStyle/>
          <a:p>
            <a:pPr algn="ctr">
              <a:defRPr sz="780" b="0">
                <a:solidFill>
                  <a:srgbClr val="2D3037"/>
                </a:solidFill>
                <a:latin typeface="Aptos"/>
              </a:defRPr>
            </a:pPr>
            <a:r>
              <a:t>₹34K</a:t>
            </a:r>
          </a:p>
        </p:txBody>
      </p:sp>
      <p:sp>
        <p:nvSpPr>
          <p:cNvPr id="50" name="TextBox 49"/>
          <p:cNvSpPr txBox="1"/>
          <p:nvPr/>
        </p:nvSpPr>
        <p:spPr>
          <a:xfrm>
            <a:off x="9098280" y="1618488"/>
            <a:ext cx="914400" cy="411480"/>
          </a:xfrm>
          <a:prstGeom prst="rect">
            <a:avLst/>
          </a:prstGeom>
          <a:noFill/>
        </p:spPr>
        <p:txBody>
          <a:bodyPr wrap="square" anchor="ctr">
            <a:spAutoFit/>
          </a:bodyPr>
          <a:lstStyle/>
          <a:p>
            <a:pPr algn="ctr">
              <a:defRPr sz="780" b="0">
                <a:solidFill>
                  <a:srgbClr val="2D3037"/>
                </a:solidFill>
                <a:latin typeface="Aptos"/>
              </a:defRPr>
            </a:pPr>
            <a:r>
              <a:t>39.2%</a:t>
            </a:r>
          </a:p>
        </p:txBody>
      </p:sp>
      <p:sp>
        <p:nvSpPr>
          <p:cNvPr id="51" name="TextBox 50"/>
          <p:cNvSpPr txBox="1"/>
          <p:nvPr/>
        </p:nvSpPr>
        <p:spPr>
          <a:xfrm>
            <a:off x="10012680" y="1618488"/>
            <a:ext cx="868680" cy="411480"/>
          </a:xfrm>
          <a:prstGeom prst="rect">
            <a:avLst/>
          </a:prstGeom>
          <a:noFill/>
        </p:spPr>
        <p:txBody>
          <a:bodyPr wrap="square" anchor="ctr">
            <a:spAutoFit/>
          </a:bodyPr>
          <a:lstStyle/>
          <a:p>
            <a:pPr algn="ctr">
              <a:defRPr sz="780" b="0">
                <a:solidFill>
                  <a:srgbClr val="2D3037"/>
                </a:solidFill>
                <a:latin typeface="Aptos"/>
              </a:defRPr>
            </a:pPr>
            <a:r>
              <a:t>344</a:t>
            </a:r>
          </a:p>
        </p:txBody>
      </p:sp>
      <p:sp>
        <p:nvSpPr>
          <p:cNvPr id="52" name="TextBox 51"/>
          <p:cNvSpPr txBox="1"/>
          <p:nvPr/>
        </p:nvSpPr>
        <p:spPr>
          <a:xfrm>
            <a:off x="10881360" y="1618488"/>
            <a:ext cx="914400" cy="411480"/>
          </a:xfrm>
          <a:prstGeom prst="rect">
            <a:avLst/>
          </a:prstGeom>
          <a:noFill/>
        </p:spPr>
        <p:txBody>
          <a:bodyPr wrap="square" anchor="ctr">
            <a:spAutoFit/>
          </a:bodyPr>
          <a:lstStyle/>
          <a:p>
            <a:pPr algn="ctr">
              <a:defRPr sz="780" b="0">
                <a:solidFill>
                  <a:srgbClr val="2D3037"/>
                </a:solidFill>
                <a:latin typeface="Aptos"/>
              </a:defRPr>
            </a:pPr>
            <a:r>
              <a:t>8.4%</a:t>
            </a:r>
          </a:p>
        </p:txBody>
      </p:sp>
      <p:sp>
        <p:nvSpPr>
          <p:cNvPr id="53" name="TextBox 52"/>
          <p:cNvSpPr txBox="1"/>
          <p:nvPr/>
        </p:nvSpPr>
        <p:spPr>
          <a:xfrm>
            <a:off x="6172200" y="2121408"/>
            <a:ext cx="1965960" cy="411480"/>
          </a:xfrm>
          <a:prstGeom prst="rect">
            <a:avLst/>
          </a:prstGeom>
          <a:noFill/>
        </p:spPr>
        <p:txBody>
          <a:bodyPr wrap="square" anchor="ctr">
            <a:spAutoFit/>
          </a:bodyPr>
          <a:lstStyle/>
          <a:p>
            <a:pPr algn="ctr">
              <a:defRPr sz="780" b="1">
                <a:solidFill>
                  <a:srgbClr val="2D3037"/>
                </a:solidFill>
                <a:latin typeface="Aptos"/>
              </a:defRPr>
            </a:pPr>
            <a:r>
              <a:t>Classic Burger</a:t>
            </a:r>
          </a:p>
        </p:txBody>
      </p:sp>
      <p:sp>
        <p:nvSpPr>
          <p:cNvPr id="54" name="TextBox 53"/>
          <p:cNvSpPr txBox="1"/>
          <p:nvPr/>
        </p:nvSpPr>
        <p:spPr>
          <a:xfrm>
            <a:off x="8138160" y="2121408"/>
            <a:ext cx="960120" cy="411480"/>
          </a:xfrm>
          <a:prstGeom prst="rect">
            <a:avLst/>
          </a:prstGeom>
          <a:noFill/>
        </p:spPr>
        <p:txBody>
          <a:bodyPr wrap="square" anchor="ctr">
            <a:spAutoFit/>
          </a:bodyPr>
          <a:lstStyle/>
          <a:p>
            <a:pPr algn="ctr">
              <a:defRPr sz="780" b="0">
                <a:solidFill>
                  <a:srgbClr val="2D3037"/>
                </a:solidFill>
                <a:latin typeface="Aptos"/>
              </a:defRPr>
            </a:pPr>
            <a:r>
              <a:t>₹33K</a:t>
            </a:r>
          </a:p>
        </p:txBody>
      </p:sp>
      <p:sp>
        <p:nvSpPr>
          <p:cNvPr id="55" name="TextBox 54"/>
          <p:cNvSpPr txBox="1"/>
          <p:nvPr/>
        </p:nvSpPr>
        <p:spPr>
          <a:xfrm>
            <a:off x="9098280" y="2121408"/>
            <a:ext cx="914400" cy="411480"/>
          </a:xfrm>
          <a:prstGeom prst="rect">
            <a:avLst/>
          </a:prstGeom>
          <a:noFill/>
        </p:spPr>
        <p:txBody>
          <a:bodyPr wrap="square" anchor="ctr">
            <a:spAutoFit/>
          </a:bodyPr>
          <a:lstStyle/>
          <a:p>
            <a:pPr algn="ctr">
              <a:defRPr sz="780" b="0">
                <a:solidFill>
                  <a:srgbClr val="2D3037"/>
                </a:solidFill>
                <a:latin typeface="Aptos"/>
              </a:defRPr>
            </a:pPr>
            <a:r>
              <a:t>37.8%</a:t>
            </a:r>
          </a:p>
        </p:txBody>
      </p:sp>
      <p:sp>
        <p:nvSpPr>
          <p:cNvPr id="56" name="TextBox 55"/>
          <p:cNvSpPr txBox="1"/>
          <p:nvPr/>
        </p:nvSpPr>
        <p:spPr>
          <a:xfrm>
            <a:off x="10012680" y="2121408"/>
            <a:ext cx="868680" cy="411480"/>
          </a:xfrm>
          <a:prstGeom prst="rect">
            <a:avLst/>
          </a:prstGeom>
          <a:noFill/>
        </p:spPr>
        <p:txBody>
          <a:bodyPr wrap="square" anchor="ctr">
            <a:spAutoFit/>
          </a:bodyPr>
          <a:lstStyle/>
          <a:p>
            <a:pPr algn="ctr">
              <a:defRPr sz="780" b="0">
                <a:solidFill>
                  <a:srgbClr val="2D3037"/>
                </a:solidFill>
                <a:latin typeface="Aptos"/>
              </a:defRPr>
            </a:pPr>
            <a:r>
              <a:t>430</a:t>
            </a:r>
          </a:p>
        </p:txBody>
      </p:sp>
      <p:sp>
        <p:nvSpPr>
          <p:cNvPr id="57" name="TextBox 56"/>
          <p:cNvSpPr txBox="1"/>
          <p:nvPr/>
        </p:nvSpPr>
        <p:spPr>
          <a:xfrm>
            <a:off x="10881360" y="2121408"/>
            <a:ext cx="914400" cy="411480"/>
          </a:xfrm>
          <a:prstGeom prst="rect">
            <a:avLst/>
          </a:prstGeom>
          <a:noFill/>
        </p:spPr>
        <p:txBody>
          <a:bodyPr wrap="square" anchor="ctr">
            <a:spAutoFit/>
          </a:bodyPr>
          <a:lstStyle/>
          <a:p>
            <a:pPr algn="ctr">
              <a:defRPr sz="780" b="0">
                <a:solidFill>
                  <a:srgbClr val="2D3037"/>
                </a:solidFill>
                <a:latin typeface="Aptos"/>
              </a:defRPr>
            </a:pPr>
            <a:r>
              <a:t>8.3%</a:t>
            </a:r>
          </a:p>
        </p:txBody>
      </p:sp>
      <p:sp>
        <p:nvSpPr>
          <p:cNvPr id="58" name="TextBox 57"/>
          <p:cNvSpPr txBox="1"/>
          <p:nvPr/>
        </p:nvSpPr>
        <p:spPr>
          <a:xfrm>
            <a:off x="6172200" y="2624328"/>
            <a:ext cx="1965960" cy="411480"/>
          </a:xfrm>
          <a:prstGeom prst="rect">
            <a:avLst/>
          </a:prstGeom>
          <a:noFill/>
        </p:spPr>
        <p:txBody>
          <a:bodyPr wrap="square" anchor="ctr">
            <a:spAutoFit/>
          </a:bodyPr>
          <a:lstStyle/>
          <a:p>
            <a:pPr algn="ctr">
              <a:defRPr sz="780" b="1">
                <a:solidFill>
                  <a:srgbClr val="2D3037"/>
                </a:solidFill>
                <a:latin typeface="Aptos"/>
              </a:defRPr>
            </a:pPr>
            <a:r>
              <a:t>Cheese Burger</a:t>
            </a:r>
          </a:p>
        </p:txBody>
      </p:sp>
      <p:sp>
        <p:nvSpPr>
          <p:cNvPr id="59" name="TextBox 58"/>
          <p:cNvSpPr txBox="1"/>
          <p:nvPr/>
        </p:nvSpPr>
        <p:spPr>
          <a:xfrm>
            <a:off x="8138160" y="2624328"/>
            <a:ext cx="960120" cy="411480"/>
          </a:xfrm>
          <a:prstGeom prst="rect">
            <a:avLst/>
          </a:prstGeom>
          <a:noFill/>
        </p:spPr>
        <p:txBody>
          <a:bodyPr wrap="square" anchor="ctr">
            <a:spAutoFit/>
          </a:bodyPr>
          <a:lstStyle/>
          <a:p>
            <a:pPr algn="ctr">
              <a:defRPr sz="780" b="0">
                <a:solidFill>
                  <a:srgbClr val="2D3037"/>
                </a:solidFill>
                <a:latin typeface="Aptos"/>
              </a:defRPr>
            </a:pPr>
            <a:r>
              <a:t>₹29K</a:t>
            </a:r>
          </a:p>
        </p:txBody>
      </p:sp>
      <p:sp>
        <p:nvSpPr>
          <p:cNvPr id="60" name="TextBox 59"/>
          <p:cNvSpPr txBox="1"/>
          <p:nvPr/>
        </p:nvSpPr>
        <p:spPr>
          <a:xfrm>
            <a:off x="9098280" y="2624328"/>
            <a:ext cx="914400" cy="411480"/>
          </a:xfrm>
          <a:prstGeom prst="rect">
            <a:avLst/>
          </a:prstGeom>
          <a:noFill/>
        </p:spPr>
        <p:txBody>
          <a:bodyPr wrap="square" anchor="ctr">
            <a:spAutoFit/>
          </a:bodyPr>
          <a:lstStyle/>
          <a:p>
            <a:pPr algn="ctr">
              <a:defRPr sz="780" b="0">
                <a:solidFill>
                  <a:srgbClr val="2D3037"/>
                </a:solidFill>
                <a:latin typeface="Aptos"/>
              </a:defRPr>
            </a:pPr>
            <a:r>
              <a:t>39.1%</a:t>
            </a:r>
          </a:p>
        </p:txBody>
      </p:sp>
      <p:sp>
        <p:nvSpPr>
          <p:cNvPr id="61" name="TextBox 60"/>
          <p:cNvSpPr txBox="1"/>
          <p:nvPr/>
        </p:nvSpPr>
        <p:spPr>
          <a:xfrm>
            <a:off x="10012680" y="2624328"/>
            <a:ext cx="868680" cy="411480"/>
          </a:xfrm>
          <a:prstGeom prst="rect">
            <a:avLst/>
          </a:prstGeom>
          <a:noFill/>
        </p:spPr>
        <p:txBody>
          <a:bodyPr wrap="square" anchor="ctr">
            <a:spAutoFit/>
          </a:bodyPr>
          <a:lstStyle/>
          <a:p>
            <a:pPr algn="ctr">
              <a:defRPr sz="780" b="0">
                <a:solidFill>
                  <a:srgbClr val="2D3037"/>
                </a:solidFill>
                <a:latin typeface="Aptos"/>
              </a:defRPr>
            </a:pPr>
            <a:r>
              <a:t>321</a:t>
            </a:r>
          </a:p>
        </p:txBody>
      </p:sp>
      <p:sp>
        <p:nvSpPr>
          <p:cNvPr id="62" name="TextBox 61"/>
          <p:cNvSpPr txBox="1"/>
          <p:nvPr/>
        </p:nvSpPr>
        <p:spPr>
          <a:xfrm>
            <a:off x="10881360" y="2624328"/>
            <a:ext cx="914400" cy="411480"/>
          </a:xfrm>
          <a:prstGeom prst="rect">
            <a:avLst/>
          </a:prstGeom>
          <a:noFill/>
        </p:spPr>
        <p:txBody>
          <a:bodyPr wrap="square" anchor="ctr">
            <a:spAutoFit/>
          </a:bodyPr>
          <a:lstStyle/>
          <a:p>
            <a:pPr algn="ctr">
              <a:defRPr sz="780" b="0">
                <a:solidFill>
                  <a:srgbClr val="2D3037"/>
                </a:solidFill>
                <a:latin typeface="Aptos"/>
              </a:defRPr>
            </a:pPr>
            <a:r>
              <a:t>8.1%</a:t>
            </a:r>
          </a:p>
        </p:txBody>
      </p:sp>
      <p:sp>
        <p:nvSpPr>
          <p:cNvPr id="63" name="TextBox 62"/>
          <p:cNvSpPr txBox="1"/>
          <p:nvPr/>
        </p:nvSpPr>
        <p:spPr>
          <a:xfrm>
            <a:off x="6172200" y="3127248"/>
            <a:ext cx="1965960" cy="411480"/>
          </a:xfrm>
          <a:prstGeom prst="rect">
            <a:avLst/>
          </a:prstGeom>
          <a:noFill/>
        </p:spPr>
        <p:txBody>
          <a:bodyPr wrap="square" anchor="ctr">
            <a:spAutoFit/>
          </a:bodyPr>
          <a:lstStyle/>
          <a:p>
            <a:pPr algn="ctr">
              <a:defRPr sz="780" b="1">
                <a:solidFill>
                  <a:srgbClr val="2D3037"/>
                </a:solidFill>
                <a:latin typeface="Aptos"/>
              </a:defRPr>
            </a:pPr>
            <a:r>
              <a:t>Fresh Lime Soda</a:t>
            </a:r>
          </a:p>
        </p:txBody>
      </p:sp>
      <p:sp>
        <p:nvSpPr>
          <p:cNvPr id="64" name="TextBox 63"/>
          <p:cNvSpPr txBox="1"/>
          <p:nvPr/>
        </p:nvSpPr>
        <p:spPr>
          <a:xfrm>
            <a:off x="8138160" y="3127248"/>
            <a:ext cx="960120" cy="411480"/>
          </a:xfrm>
          <a:prstGeom prst="rect">
            <a:avLst/>
          </a:prstGeom>
          <a:noFill/>
        </p:spPr>
        <p:txBody>
          <a:bodyPr wrap="square" anchor="ctr">
            <a:spAutoFit/>
          </a:bodyPr>
          <a:lstStyle/>
          <a:p>
            <a:pPr algn="ctr">
              <a:defRPr sz="780" b="0">
                <a:solidFill>
                  <a:srgbClr val="2D3037"/>
                </a:solidFill>
                <a:latin typeface="Aptos"/>
              </a:defRPr>
            </a:pPr>
            <a:r>
              <a:t>₹28K</a:t>
            </a:r>
          </a:p>
        </p:txBody>
      </p:sp>
      <p:sp>
        <p:nvSpPr>
          <p:cNvPr id="65" name="TextBox 64"/>
          <p:cNvSpPr txBox="1"/>
          <p:nvPr/>
        </p:nvSpPr>
        <p:spPr>
          <a:xfrm>
            <a:off x="9098280" y="3127248"/>
            <a:ext cx="914400" cy="411480"/>
          </a:xfrm>
          <a:prstGeom prst="rect">
            <a:avLst/>
          </a:prstGeom>
          <a:noFill/>
        </p:spPr>
        <p:txBody>
          <a:bodyPr wrap="square" anchor="ctr">
            <a:spAutoFit/>
          </a:bodyPr>
          <a:lstStyle/>
          <a:p>
            <a:pPr algn="ctr">
              <a:defRPr sz="780" b="0">
                <a:solidFill>
                  <a:srgbClr val="2D3037"/>
                </a:solidFill>
                <a:latin typeface="Aptos"/>
              </a:defRPr>
            </a:pPr>
            <a:r>
              <a:t>61.6%</a:t>
            </a:r>
          </a:p>
        </p:txBody>
      </p:sp>
      <p:sp>
        <p:nvSpPr>
          <p:cNvPr id="66" name="TextBox 65"/>
          <p:cNvSpPr txBox="1"/>
          <p:nvPr/>
        </p:nvSpPr>
        <p:spPr>
          <a:xfrm>
            <a:off x="10012680" y="3127248"/>
            <a:ext cx="868680" cy="411480"/>
          </a:xfrm>
          <a:prstGeom prst="rect">
            <a:avLst/>
          </a:prstGeom>
          <a:noFill/>
        </p:spPr>
        <p:txBody>
          <a:bodyPr wrap="square" anchor="ctr">
            <a:spAutoFit/>
          </a:bodyPr>
          <a:lstStyle/>
          <a:p>
            <a:pPr algn="ctr">
              <a:defRPr sz="780" b="0">
                <a:solidFill>
                  <a:srgbClr val="2D3037"/>
                </a:solidFill>
                <a:latin typeface="Aptos"/>
              </a:defRPr>
            </a:pPr>
            <a:r>
              <a:t>494</a:t>
            </a:r>
          </a:p>
        </p:txBody>
      </p:sp>
      <p:sp>
        <p:nvSpPr>
          <p:cNvPr id="67" name="TextBox 66"/>
          <p:cNvSpPr txBox="1"/>
          <p:nvPr/>
        </p:nvSpPr>
        <p:spPr>
          <a:xfrm>
            <a:off x="10881360" y="3127248"/>
            <a:ext cx="914400" cy="411480"/>
          </a:xfrm>
          <a:prstGeom prst="rect">
            <a:avLst/>
          </a:prstGeom>
          <a:noFill/>
        </p:spPr>
        <p:txBody>
          <a:bodyPr wrap="square" anchor="ctr">
            <a:spAutoFit/>
          </a:bodyPr>
          <a:lstStyle/>
          <a:p>
            <a:pPr algn="ctr">
              <a:defRPr sz="780" b="0">
                <a:solidFill>
                  <a:srgbClr val="2D3037"/>
                </a:solidFill>
                <a:latin typeface="Aptos"/>
              </a:defRPr>
            </a:pPr>
            <a:r>
              <a:t>8.8%</a:t>
            </a:r>
          </a:p>
        </p:txBody>
      </p:sp>
      <p:sp>
        <p:nvSpPr>
          <p:cNvPr id="68" name="TextBox 67"/>
          <p:cNvSpPr txBox="1"/>
          <p:nvPr/>
        </p:nvSpPr>
        <p:spPr>
          <a:xfrm>
            <a:off x="6172200" y="3630168"/>
            <a:ext cx="1965960" cy="411480"/>
          </a:xfrm>
          <a:prstGeom prst="rect">
            <a:avLst/>
          </a:prstGeom>
          <a:noFill/>
        </p:spPr>
        <p:txBody>
          <a:bodyPr wrap="square" anchor="ctr">
            <a:spAutoFit/>
          </a:bodyPr>
          <a:lstStyle/>
          <a:p>
            <a:pPr algn="ctr">
              <a:defRPr sz="780" b="1">
                <a:solidFill>
                  <a:srgbClr val="2D3037"/>
                </a:solidFill>
                <a:latin typeface="Aptos"/>
              </a:defRPr>
            </a:pPr>
            <a:r>
              <a:t>Cold Coffee</a:t>
            </a:r>
          </a:p>
        </p:txBody>
      </p:sp>
      <p:sp>
        <p:nvSpPr>
          <p:cNvPr id="69" name="TextBox 68"/>
          <p:cNvSpPr txBox="1"/>
          <p:nvPr/>
        </p:nvSpPr>
        <p:spPr>
          <a:xfrm>
            <a:off x="8138160" y="3630168"/>
            <a:ext cx="960120" cy="411480"/>
          </a:xfrm>
          <a:prstGeom prst="rect">
            <a:avLst/>
          </a:prstGeom>
          <a:noFill/>
        </p:spPr>
        <p:txBody>
          <a:bodyPr wrap="square" anchor="ctr">
            <a:spAutoFit/>
          </a:bodyPr>
          <a:lstStyle/>
          <a:p>
            <a:pPr algn="ctr">
              <a:defRPr sz="780" b="0">
                <a:solidFill>
                  <a:srgbClr val="2D3037"/>
                </a:solidFill>
                <a:latin typeface="Aptos"/>
              </a:defRPr>
            </a:pPr>
            <a:r>
              <a:t>₹27K</a:t>
            </a:r>
          </a:p>
        </p:txBody>
      </p:sp>
      <p:sp>
        <p:nvSpPr>
          <p:cNvPr id="70" name="TextBox 69"/>
          <p:cNvSpPr txBox="1"/>
          <p:nvPr/>
        </p:nvSpPr>
        <p:spPr>
          <a:xfrm>
            <a:off x="9098280" y="3630168"/>
            <a:ext cx="914400" cy="411480"/>
          </a:xfrm>
          <a:prstGeom prst="rect">
            <a:avLst/>
          </a:prstGeom>
          <a:noFill/>
        </p:spPr>
        <p:txBody>
          <a:bodyPr wrap="square" anchor="ctr">
            <a:spAutoFit/>
          </a:bodyPr>
          <a:lstStyle/>
          <a:p>
            <a:pPr algn="ctr">
              <a:defRPr sz="780" b="0">
                <a:solidFill>
                  <a:srgbClr val="2D3037"/>
                </a:solidFill>
                <a:latin typeface="Aptos"/>
              </a:defRPr>
            </a:pPr>
            <a:r>
              <a:t>54.7%</a:t>
            </a:r>
          </a:p>
        </p:txBody>
      </p:sp>
      <p:sp>
        <p:nvSpPr>
          <p:cNvPr id="71" name="TextBox 70"/>
          <p:cNvSpPr txBox="1"/>
          <p:nvPr/>
        </p:nvSpPr>
        <p:spPr>
          <a:xfrm>
            <a:off x="10012680" y="3630168"/>
            <a:ext cx="868680" cy="411480"/>
          </a:xfrm>
          <a:prstGeom prst="rect">
            <a:avLst/>
          </a:prstGeom>
          <a:noFill/>
        </p:spPr>
        <p:txBody>
          <a:bodyPr wrap="square" anchor="ctr">
            <a:spAutoFit/>
          </a:bodyPr>
          <a:lstStyle/>
          <a:p>
            <a:pPr algn="ctr">
              <a:defRPr sz="780" b="0">
                <a:solidFill>
                  <a:srgbClr val="2D3037"/>
                </a:solidFill>
                <a:latin typeface="Aptos"/>
              </a:defRPr>
            </a:pPr>
            <a:r>
              <a:t>363</a:t>
            </a:r>
          </a:p>
        </p:txBody>
      </p:sp>
      <p:sp>
        <p:nvSpPr>
          <p:cNvPr id="72" name="TextBox 71"/>
          <p:cNvSpPr txBox="1"/>
          <p:nvPr/>
        </p:nvSpPr>
        <p:spPr>
          <a:xfrm>
            <a:off x="10881360" y="3630168"/>
            <a:ext cx="914400" cy="411480"/>
          </a:xfrm>
          <a:prstGeom prst="rect">
            <a:avLst/>
          </a:prstGeom>
          <a:noFill/>
        </p:spPr>
        <p:txBody>
          <a:bodyPr wrap="square" anchor="ctr">
            <a:spAutoFit/>
          </a:bodyPr>
          <a:lstStyle/>
          <a:p>
            <a:pPr algn="ctr">
              <a:defRPr sz="780" b="0">
                <a:solidFill>
                  <a:srgbClr val="2D3037"/>
                </a:solidFill>
                <a:latin typeface="Aptos"/>
              </a:defRPr>
            </a:pPr>
            <a:r>
              <a:t>8.8%</a:t>
            </a:r>
          </a:p>
        </p:txBody>
      </p:sp>
      <p:sp>
        <p:nvSpPr>
          <p:cNvPr id="73" name="TextBox 72"/>
          <p:cNvSpPr txBox="1"/>
          <p:nvPr/>
        </p:nvSpPr>
        <p:spPr>
          <a:xfrm>
            <a:off x="6172200" y="4133087"/>
            <a:ext cx="1965960" cy="411480"/>
          </a:xfrm>
          <a:prstGeom prst="rect">
            <a:avLst/>
          </a:prstGeom>
          <a:noFill/>
        </p:spPr>
        <p:txBody>
          <a:bodyPr wrap="square" anchor="ctr">
            <a:spAutoFit/>
          </a:bodyPr>
          <a:lstStyle/>
          <a:p>
            <a:pPr algn="ctr">
              <a:defRPr sz="780" b="1">
                <a:solidFill>
                  <a:srgbClr val="2D3037"/>
                </a:solidFill>
                <a:latin typeface="Aptos"/>
              </a:defRPr>
            </a:pPr>
            <a:r>
              <a:t>Mango Shake</a:t>
            </a:r>
          </a:p>
        </p:txBody>
      </p:sp>
      <p:sp>
        <p:nvSpPr>
          <p:cNvPr id="74" name="TextBox 73"/>
          <p:cNvSpPr txBox="1"/>
          <p:nvPr/>
        </p:nvSpPr>
        <p:spPr>
          <a:xfrm>
            <a:off x="8138160" y="4133087"/>
            <a:ext cx="960120" cy="411480"/>
          </a:xfrm>
          <a:prstGeom prst="rect">
            <a:avLst/>
          </a:prstGeom>
          <a:noFill/>
        </p:spPr>
        <p:txBody>
          <a:bodyPr wrap="square" anchor="ctr">
            <a:spAutoFit/>
          </a:bodyPr>
          <a:lstStyle/>
          <a:p>
            <a:pPr algn="ctr">
              <a:defRPr sz="780" b="0">
                <a:solidFill>
                  <a:srgbClr val="2D3037"/>
                </a:solidFill>
                <a:latin typeface="Aptos"/>
              </a:defRPr>
            </a:pPr>
            <a:r>
              <a:t>₹27K</a:t>
            </a:r>
          </a:p>
        </p:txBody>
      </p:sp>
      <p:sp>
        <p:nvSpPr>
          <p:cNvPr id="75" name="TextBox 74"/>
          <p:cNvSpPr txBox="1"/>
          <p:nvPr/>
        </p:nvSpPr>
        <p:spPr>
          <a:xfrm>
            <a:off x="9098280" y="4133087"/>
            <a:ext cx="914400" cy="411480"/>
          </a:xfrm>
          <a:prstGeom prst="rect">
            <a:avLst/>
          </a:prstGeom>
          <a:noFill/>
        </p:spPr>
        <p:txBody>
          <a:bodyPr wrap="square" anchor="ctr">
            <a:spAutoFit/>
          </a:bodyPr>
          <a:lstStyle/>
          <a:p>
            <a:pPr algn="ctr">
              <a:defRPr sz="780" b="0">
                <a:solidFill>
                  <a:srgbClr val="2D3037"/>
                </a:solidFill>
                <a:latin typeface="Aptos"/>
              </a:defRPr>
            </a:pPr>
            <a:r>
              <a:t>53.5%</a:t>
            </a:r>
          </a:p>
        </p:txBody>
      </p:sp>
      <p:sp>
        <p:nvSpPr>
          <p:cNvPr id="76" name="TextBox 75"/>
          <p:cNvSpPr txBox="1"/>
          <p:nvPr/>
        </p:nvSpPr>
        <p:spPr>
          <a:xfrm>
            <a:off x="10012680" y="4133087"/>
            <a:ext cx="868680" cy="411480"/>
          </a:xfrm>
          <a:prstGeom prst="rect">
            <a:avLst/>
          </a:prstGeom>
          <a:noFill/>
        </p:spPr>
        <p:txBody>
          <a:bodyPr wrap="square" anchor="ctr">
            <a:spAutoFit/>
          </a:bodyPr>
          <a:lstStyle/>
          <a:p>
            <a:pPr algn="ctr">
              <a:defRPr sz="780" b="0">
                <a:solidFill>
                  <a:srgbClr val="2D3037"/>
                </a:solidFill>
                <a:latin typeface="Aptos"/>
              </a:defRPr>
            </a:pPr>
            <a:r>
              <a:t>326</a:t>
            </a:r>
          </a:p>
        </p:txBody>
      </p:sp>
      <p:sp>
        <p:nvSpPr>
          <p:cNvPr id="77" name="TextBox 76"/>
          <p:cNvSpPr txBox="1"/>
          <p:nvPr/>
        </p:nvSpPr>
        <p:spPr>
          <a:xfrm>
            <a:off x="10881360" y="4133087"/>
            <a:ext cx="914400" cy="411480"/>
          </a:xfrm>
          <a:prstGeom prst="rect">
            <a:avLst/>
          </a:prstGeom>
          <a:noFill/>
        </p:spPr>
        <p:txBody>
          <a:bodyPr wrap="square" anchor="ctr">
            <a:spAutoFit/>
          </a:bodyPr>
          <a:lstStyle/>
          <a:p>
            <a:pPr algn="ctr">
              <a:defRPr sz="780" b="0">
                <a:solidFill>
                  <a:srgbClr val="2D3037"/>
                </a:solidFill>
                <a:latin typeface="Aptos"/>
              </a:defRPr>
            </a:pPr>
            <a:r>
              <a:t>9.4%</a:t>
            </a:r>
          </a:p>
        </p:txBody>
      </p:sp>
      <p:sp>
        <p:nvSpPr>
          <p:cNvPr id="78" name="TextBox 77"/>
          <p:cNvSpPr txBox="1"/>
          <p:nvPr/>
        </p:nvSpPr>
        <p:spPr>
          <a:xfrm>
            <a:off x="6172200" y="4636008"/>
            <a:ext cx="1965960" cy="411480"/>
          </a:xfrm>
          <a:prstGeom prst="rect">
            <a:avLst/>
          </a:prstGeom>
          <a:noFill/>
        </p:spPr>
        <p:txBody>
          <a:bodyPr wrap="square" anchor="ctr">
            <a:spAutoFit/>
          </a:bodyPr>
          <a:lstStyle/>
          <a:p>
            <a:pPr algn="ctr">
              <a:defRPr sz="780" b="1">
                <a:solidFill>
                  <a:srgbClr val="2D3037"/>
                </a:solidFill>
                <a:latin typeface="Aptos"/>
              </a:defRPr>
            </a:pPr>
            <a:r>
              <a:t>Tandoori Platter</a:t>
            </a:r>
          </a:p>
        </p:txBody>
      </p:sp>
      <p:sp>
        <p:nvSpPr>
          <p:cNvPr id="79" name="TextBox 78"/>
          <p:cNvSpPr txBox="1"/>
          <p:nvPr/>
        </p:nvSpPr>
        <p:spPr>
          <a:xfrm>
            <a:off x="8138160" y="4636008"/>
            <a:ext cx="960120" cy="411480"/>
          </a:xfrm>
          <a:prstGeom prst="rect">
            <a:avLst/>
          </a:prstGeom>
          <a:noFill/>
        </p:spPr>
        <p:txBody>
          <a:bodyPr wrap="square" anchor="ctr">
            <a:spAutoFit/>
          </a:bodyPr>
          <a:lstStyle/>
          <a:p>
            <a:pPr algn="ctr">
              <a:defRPr sz="780" b="0">
                <a:solidFill>
                  <a:srgbClr val="2D3037"/>
                </a:solidFill>
                <a:latin typeface="Aptos"/>
              </a:defRPr>
            </a:pPr>
            <a:r>
              <a:t>₹27K</a:t>
            </a:r>
          </a:p>
        </p:txBody>
      </p:sp>
      <p:sp>
        <p:nvSpPr>
          <p:cNvPr id="80" name="TextBox 79"/>
          <p:cNvSpPr txBox="1"/>
          <p:nvPr/>
        </p:nvSpPr>
        <p:spPr>
          <a:xfrm>
            <a:off x="9098280" y="4636008"/>
            <a:ext cx="914400" cy="411480"/>
          </a:xfrm>
          <a:prstGeom prst="rect">
            <a:avLst/>
          </a:prstGeom>
          <a:noFill/>
        </p:spPr>
        <p:txBody>
          <a:bodyPr wrap="square" anchor="ctr">
            <a:spAutoFit/>
          </a:bodyPr>
          <a:lstStyle/>
          <a:p>
            <a:pPr algn="ctr">
              <a:defRPr sz="780" b="0">
                <a:solidFill>
                  <a:srgbClr val="2D3037"/>
                </a:solidFill>
                <a:latin typeface="Aptos"/>
              </a:defRPr>
            </a:pPr>
            <a:r>
              <a:t>36.7%</a:t>
            </a:r>
          </a:p>
        </p:txBody>
      </p:sp>
      <p:sp>
        <p:nvSpPr>
          <p:cNvPr id="81" name="TextBox 80"/>
          <p:cNvSpPr txBox="1"/>
          <p:nvPr/>
        </p:nvSpPr>
        <p:spPr>
          <a:xfrm>
            <a:off x="10012680" y="4636008"/>
            <a:ext cx="868680" cy="411480"/>
          </a:xfrm>
          <a:prstGeom prst="rect">
            <a:avLst/>
          </a:prstGeom>
          <a:noFill/>
        </p:spPr>
        <p:txBody>
          <a:bodyPr wrap="square" anchor="ctr">
            <a:spAutoFit/>
          </a:bodyPr>
          <a:lstStyle/>
          <a:p>
            <a:pPr algn="ctr">
              <a:defRPr sz="780" b="0">
                <a:solidFill>
                  <a:srgbClr val="2D3037"/>
                </a:solidFill>
                <a:latin typeface="Aptos"/>
              </a:defRPr>
            </a:pPr>
            <a:r>
              <a:t>190</a:t>
            </a:r>
          </a:p>
        </p:txBody>
      </p:sp>
      <p:sp>
        <p:nvSpPr>
          <p:cNvPr id="82" name="TextBox 81"/>
          <p:cNvSpPr txBox="1"/>
          <p:nvPr/>
        </p:nvSpPr>
        <p:spPr>
          <a:xfrm>
            <a:off x="10881360" y="4636008"/>
            <a:ext cx="914400" cy="411480"/>
          </a:xfrm>
          <a:prstGeom prst="rect">
            <a:avLst/>
          </a:prstGeom>
          <a:noFill/>
        </p:spPr>
        <p:txBody>
          <a:bodyPr wrap="square" anchor="ctr">
            <a:spAutoFit/>
          </a:bodyPr>
          <a:lstStyle/>
          <a:p>
            <a:pPr algn="ctr">
              <a:defRPr sz="780" b="0">
                <a:solidFill>
                  <a:srgbClr val="2D3037"/>
                </a:solidFill>
                <a:latin typeface="Aptos"/>
              </a:defRPr>
            </a:pPr>
            <a:r>
              <a:t>7.8%</a:t>
            </a:r>
          </a:p>
        </p:txBody>
      </p:sp>
      <p:sp>
        <p:nvSpPr>
          <p:cNvPr id="83" name="Rounded Rectangle 82"/>
          <p:cNvSpPr/>
          <p:nvPr/>
        </p:nvSpPr>
        <p:spPr>
          <a:xfrm>
            <a:off x="502920" y="4709160"/>
            <a:ext cx="11064240" cy="1325880"/>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49224" y="4818888"/>
            <a:ext cx="10771632" cy="256032"/>
          </a:xfrm>
          <a:prstGeom prst="rect">
            <a:avLst/>
          </a:prstGeom>
          <a:noFill/>
        </p:spPr>
        <p:txBody>
          <a:bodyPr wrap="square" anchor="t">
            <a:spAutoFit/>
          </a:bodyPr>
          <a:lstStyle/>
          <a:p>
            <a:pPr algn="l">
              <a:defRPr sz="900" b="1">
                <a:solidFill>
                  <a:srgbClr val="182652"/>
                </a:solidFill>
                <a:latin typeface="Aptos"/>
              </a:defRPr>
            </a:pPr>
            <a:r>
              <a:t>Business interpretation</a:t>
            </a:r>
          </a:p>
        </p:txBody>
      </p:sp>
      <p:sp>
        <p:nvSpPr>
          <p:cNvPr id="85" name="TextBox 84"/>
          <p:cNvSpPr txBox="1"/>
          <p:nvPr/>
        </p:nvSpPr>
        <p:spPr>
          <a:xfrm>
            <a:off x="649224" y="5102352"/>
            <a:ext cx="10771632" cy="400110"/>
          </a:xfrm>
          <a:prstGeom prst="rect">
            <a:avLst/>
          </a:prstGeom>
          <a:noFill/>
        </p:spPr>
        <p:txBody>
          <a:bodyPr wrap="square" anchor="t">
            <a:spAutoFit/>
          </a:bodyPr>
          <a:lstStyle/>
          <a:p>
            <a:pPr algn="l">
              <a:defRPr sz="840" b="0">
                <a:solidFill>
                  <a:srgbClr val="2D3037"/>
                </a:solidFill>
                <a:latin typeface="Aptos"/>
              </a:defRPr>
            </a:pPr>
            <a:r>
              <a:rPr sz="1000"/>
              <a:t>Discounts are not equally harmful across the portfolio. Meals absorb the largest absolute discount impact because of their sales scale, while beverages retain the strongest margins. Promotion design should therefore protect high-volume meal margins and use high-margin beverages/desserts as value-adding components.</a:t>
            </a:r>
          </a:p>
        </p:txBody>
      </p:sp>
      <p:sp>
        <p:nvSpPr>
          <p:cNvPr id="86" name="TextBox 85"/>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Q3: PRODUCTS THAT SELL A LOT BUT CONTRIBUTE RELATIVELY LITTLE TO PROFIT</a:t>
            </a:r>
          </a:p>
        </p:txBody>
      </p:sp>
      <p:pic>
        <p:nvPicPr>
          <p:cNvPr id="6" name="Picture 5" descr="units_profit_scatter.png"/>
          <p:cNvPicPr>
            <a:picLocks noChangeAspect="1"/>
          </p:cNvPicPr>
          <p:nvPr/>
        </p:nvPicPr>
        <p:blipFill>
          <a:blip r:embed="rId2"/>
          <a:stretch>
            <a:fillRect/>
          </a:stretch>
        </p:blipFill>
        <p:spPr>
          <a:xfrm>
            <a:off x="411480" y="868680"/>
            <a:ext cx="6492240" cy="3389247"/>
          </a:xfrm>
          <a:prstGeom prst="rect">
            <a:avLst/>
          </a:prstGeom>
        </p:spPr>
      </p:pic>
      <p:sp>
        <p:nvSpPr>
          <p:cNvPr id="7" name="TextBox 6"/>
          <p:cNvSpPr txBox="1"/>
          <p:nvPr/>
        </p:nvSpPr>
        <p:spPr>
          <a:xfrm>
            <a:off x="7223760" y="1005840"/>
            <a:ext cx="1828800" cy="274320"/>
          </a:xfrm>
          <a:prstGeom prst="rect">
            <a:avLst/>
          </a:prstGeom>
          <a:noFill/>
        </p:spPr>
        <p:txBody>
          <a:bodyPr wrap="square" anchor="t">
            <a:spAutoFit/>
          </a:bodyPr>
          <a:lstStyle/>
          <a:p>
            <a:pPr algn="l">
              <a:defRPr sz="1000" b="1">
                <a:solidFill>
                  <a:srgbClr val="182652"/>
                </a:solidFill>
                <a:latin typeface="Aptos"/>
              </a:defRPr>
            </a:pPr>
            <a:r>
              <a:t>KEY READOUT</a:t>
            </a:r>
          </a:p>
        </p:txBody>
      </p:sp>
      <p:sp>
        <p:nvSpPr>
          <p:cNvPr id="8" name="TextBox 7"/>
          <p:cNvSpPr txBox="1"/>
          <p:nvPr/>
        </p:nvSpPr>
        <p:spPr>
          <a:xfrm>
            <a:off x="7223760" y="1417320"/>
            <a:ext cx="4389120" cy="2240280"/>
          </a:xfrm>
          <a:prstGeom prst="rect">
            <a:avLst/>
          </a:prstGeom>
          <a:noFill/>
        </p:spPr>
        <p:txBody>
          <a:bodyPr wrap="square" anchor="t">
            <a:spAutoFit/>
          </a:bodyPr>
          <a:lstStyle/>
          <a:p>
            <a:pPr algn="l">
              <a:defRPr sz="1000" b="0">
                <a:solidFill>
                  <a:srgbClr val="2D3037"/>
                </a:solidFill>
                <a:latin typeface="Aptos"/>
              </a:defRPr>
            </a:pPr>
            <a:r>
              <a:t>• Mineral Water: 518 units but only ₹0.1L profit.</a:t>
            </a:r>
            <a:br/>
            <a:r>
              <a:t>• Fresh Lime Soda: 494 units and 61.6% margin.</a:t>
            </a:r>
            <a:br/>
            <a:r>
              <a:t>• French Fries: 446 units and 51.9% margin.</a:t>
            </a:r>
            <a:br/>
            <a:br/>
            <a:r>
              <a:t>The clearest high-volume / lower-margin pressure sits in the Meals category, where several best-selling products operate around 37–40% margins.</a:t>
            </a:r>
          </a:p>
        </p:txBody>
      </p:sp>
      <p:sp>
        <p:nvSpPr>
          <p:cNvPr id="9" name="Rounded Rectangle 8"/>
          <p:cNvSpPr/>
          <p:nvPr/>
        </p:nvSpPr>
        <p:spPr>
          <a:xfrm>
            <a:off x="7178040" y="3931920"/>
            <a:ext cx="4434840" cy="1417320"/>
          </a:xfrm>
          <a:prstGeom prst="roundRect">
            <a:avLst/>
          </a:prstGeom>
          <a:solidFill>
            <a:srgbClr val="FFFFFF"/>
          </a:solidFill>
          <a:ln w="12700">
            <a:solidFill>
              <a:srgbClr val="D24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24344" y="4041648"/>
            <a:ext cx="4142231" cy="256032"/>
          </a:xfrm>
          <a:prstGeom prst="rect">
            <a:avLst/>
          </a:prstGeom>
          <a:noFill/>
        </p:spPr>
        <p:txBody>
          <a:bodyPr wrap="square" anchor="t">
            <a:spAutoFit/>
          </a:bodyPr>
          <a:lstStyle/>
          <a:p>
            <a:pPr algn="l">
              <a:defRPr sz="900" b="1">
                <a:solidFill>
                  <a:srgbClr val="182652"/>
                </a:solidFill>
                <a:latin typeface="Aptos"/>
              </a:defRPr>
            </a:pPr>
            <a:r>
              <a:t>Action</a:t>
            </a:r>
          </a:p>
        </p:txBody>
      </p:sp>
      <p:sp>
        <p:nvSpPr>
          <p:cNvPr id="11" name="TextBox 10"/>
          <p:cNvSpPr txBox="1"/>
          <p:nvPr/>
        </p:nvSpPr>
        <p:spPr>
          <a:xfrm>
            <a:off x="7324344" y="4325112"/>
            <a:ext cx="4142231" cy="553998"/>
          </a:xfrm>
          <a:prstGeom prst="rect">
            <a:avLst/>
          </a:prstGeom>
          <a:noFill/>
        </p:spPr>
        <p:txBody>
          <a:bodyPr wrap="square" anchor="t">
            <a:spAutoFit/>
          </a:bodyPr>
          <a:lstStyle/>
          <a:p>
            <a:pPr algn="l">
              <a:defRPr sz="840" b="0">
                <a:solidFill>
                  <a:srgbClr val="2D3037"/>
                </a:solidFill>
                <a:latin typeface="Aptos"/>
              </a:defRPr>
            </a:pPr>
            <a:r>
              <a:rPr sz="1000" dirty="0"/>
              <a:t>Avoid broad discounts on these volume drivers. Test bundle pricing, supplier-cost improvements, and small price changes before adding further promotions.</a:t>
            </a:r>
          </a:p>
        </p:txBody>
      </p:sp>
      <p:sp>
        <p:nvSpPr>
          <p:cNvPr id="12" name="TextBox 11"/>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Q4: CANDIDATE PRODUCTS FOR CONTROLLED PRICE ADJUSTMENTS</a:t>
            </a:r>
          </a:p>
        </p:txBody>
      </p:sp>
      <p:sp>
        <p:nvSpPr>
          <p:cNvPr id="6" name="Rectangle 5"/>
          <p:cNvSpPr/>
          <p:nvPr/>
        </p:nvSpPr>
        <p:spPr>
          <a:xfrm>
            <a:off x="502920" y="1051560"/>
            <a:ext cx="2423160" cy="384048"/>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51560"/>
            <a:ext cx="2423160" cy="384048"/>
          </a:xfrm>
          <a:prstGeom prst="rect">
            <a:avLst/>
          </a:prstGeom>
          <a:noFill/>
        </p:spPr>
        <p:txBody>
          <a:bodyPr wrap="square" anchor="ctr">
            <a:spAutoFit/>
          </a:bodyPr>
          <a:lstStyle/>
          <a:p>
            <a:pPr algn="ctr">
              <a:defRPr sz="800" b="1">
                <a:solidFill>
                  <a:srgbClr val="FFFFFF"/>
                </a:solidFill>
                <a:latin typeface="Aptos"/>
              </a:defRPr>
            </a:pPr>
            <a:r>
              <a:t>Product</a:t>
            </a:r>
          </a:p>
        </p:txBody>
      </p:sp>
      <p:sp>
        <p:nvSpPr>
          <p:cNvPr id="8" name="Rectangle 7"/>
          <p:cNvSpPr/>
          <p:nvPr/>
        </p:nvSpPr>
        <p:spPr>
          <a:xfrm>
            <a:off x="2926080" y="1051560"/>
            <a:ext cx="1234440" cy="384048"/>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26080" y="1051560"/>
            <a:ext cx="1234440" cy="384048"/>
          </a:xfrm>
          <a:prstGeom prst="rect">
            <a:avLst/>
          </a:prstGeom>
          <a:noFill/>
        </p:spPr>
        <p:txBody>
          <a:bodyPr wrap="square" anchor="ctr">
            <a:spAutoFit/>
          </a:bodyPr>
          <a:lstStyle/>
          <a:p>
            <a:pPr algn="ctr">
              <a:defRPr sz="800" b="1">
                <a:solidFill>
                  <a:srgbClr val="FFFFFF"/>
                </a:solidFill>
                <a:latin typeface="Aptos"/>
              </a:defRPr>
            </a:pPr>
            <a:r>
              <a:t>Units Sold</a:t>
            </a:r>
          </a:p>
        </p:txBody>
      </p:sp>
      <p:sp>
        <p:nvSpPr>
          <p:cNvPr id="10" name="Rectangle 9"/>
          <p:cNvSpPr/>
          <p:nvPr/>
        </p:nvSpPr>
        <p:spPr>
          <a:xfrm>
            <a:off x="4160520" y="1051560"/>
            <a:ext cx="1325880" cy="384048"/>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60520" y="1051560"/>
            <a:ext cx="1325880" cy="384048"/>
          </a:xfrm>
          <a:prstGeom prst="rect">
            <a:avLst/>
          </a:prstGeom>
          <a:noFill/>
        </p:spPr>
        <p:txBody>
          <a:bodyPr wrap="square" anchor="ctr">
            <a:spAutoFit/>
          </a:bodyPr>
          <a:lstStyle/>
          <a:p>
            <a:pPr algn="ctr">
              <a:defRPr sz="800" b="1">
                <a:solidFill>
                  <a:srgbClr val="FFFFFF"/>
                </a:solidFill>
                <a:latin typeface="Aptos"/>
              </a:defRPr>
            </a:pPr>
            <a:r>
              <a:t>Profit Margin</a:t>
            </a:r>
          </a:p>
        </p:txBody>
      </p:sp>
      <p:sp>
        <p:nvSpPr>
          <p:cNvPr id="12" name="Rectangle 11"/>
          <p:cNvSpPr/>
          <p:nvPr/>
        </p:nvSpPr>
        <p:spPr>
          <a:xfrm>
            <a:off x="5486400" y="1051560"/>
            <a:ext cx="1325880" cy="384048"/>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0" y="1051560"/>
            <a:ext cx="1325880" cy="384048"/>
          </a:xfrm>
          <a:prstGeom prst="rect">
            <a:avLst/>
          </a:prstGeom>
          <a:noFill/>
        </p:spPr>
        <p:txBody>
          <a:bodyPr wrap="square" anchor="ctr">
            <a:spAutoFit/>
          </a:bodyPr>
          <a:lstStyle/>
          <a:p>
            <a:pPr algn="ctr">
              <a:defRPr sz="800" b="1">
                <a:solidFill>
                  <a:srgbClr val="FFFFFF"/>
                </a:solidFill>
                <a:latin typeface="Aptos"/>
              </a:defRPr>
            </a:pPr>
            <a:r>
              <a:t>Avg Discount</a:t>
            </a:r>
          </a:p>
        </p:txBody>
      </p:sp>
      <p:sp>
        <p:nvSpPr>
          <p:cNvPr id="14" name="Rectangle 13"/>
          <p:cNvSpPr/>
          <p:nvPr/>
        </p:nvSpPr>
        <p:spPr>
          <a:xfrm>
            <a:off x="6812280" y="1051560"/>
            <a:ext cx="1508760" cy="384048"/>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280" y="1051560"/>
            <a:ext cx="1508760" cy="384048"/>
          </a:xfrm>
          <a:prstGeom prst="rect">
            <a:avLst/>
          </a:prstGeom>
          <a:noFill/>
        </p:spPr>
        <p:txBody>
          <a:bodyPr wrap="square" anchor="ctr">
            <a:spAutoFit/>
          </a:bodyPr>
          <a:lstStyle/>
          <a:p>
            <a:pPr algn="ctr">
              <a:defRPr sz="800" b="1">
                <a:solidFill>
                  <a:srgbClr val="FFFFFF"/>
                </a:solidFill>
                <a:latin typeface="Aptos"/>
              </a:defRPr>
            </a:pPr>
            <a:r>
              <a:t>Discount Impact</a:t>
            </a:r>
          </a:p>
        </p:txBody>
      </p:sp>
      <p:sp>
        <p:nvSpPr>
          <p:cNvPr id="16" name="TextBox 15"/>
          <p:cNvSpPr txBox="1"/>
          <p:nvPr/>
        </p:nvSpPr>
        <p:spPr>
          <a:xfrm>
            <a:off x="502920" y="1463039"/>
            <a:ext cx="2423160" cy="438912"/>
          </a:xfrm>
          <a:prstGeom prst="rect">
            <a:avLst/>
          </a:prstGeom>
          <a:noFill/>
        </p:spPr>
        <p:txBody>
          <a:bodyPr wrap="square" anchor="ctr">
            <a:spAutoFit/>
          </a:bodyPr>
          <a:lstStyle/>
          <a:p>
            <a:pPr algn="ctr">
              <a:defRPr sz="850" b="1">
                <a:solidFill>
                  <a:srgbClr val="2D3037"/>
                </a:solidFill>
                <a:latin typeface="Aptos"/>
              </a:defRPr>
            </a:pPr>
            <a:r>
              <a:t>Mineral Water</a:t>
            </a:r>
          </a:p>
        </p:txBody>
      </p:sp>
      <p:sp>
        <p:nvSpPr>
          <p:cNvPr id="17" name="TextBox 16"/>
          <p:cNvSpPr txBox="1"/>
          <p:nvPr/>
        </p:nvSpPr>
        <p:spPr>
          <a:xfrm>
            <a:off x="2926080" y="1463039"/>
            <a:ext cx="1234440" cy="438912"/>
          </a:xfrm>
          <a:prstGeom prst="rect">
            <a:avLst/>
          </a:prstGeom>
          <a:noFill/>
        </p:spPr>
        <p:txBody>
          <a:bodyPr wrap="square" anchor="ctr">
            <a:spAutoFit/>
          </a:bodyPr>
          <a:lstStyle/>
          <a:p>
            <a:pPr algn="ctr">
              <a:defRPr sz="850" b="0">
                <a:solidFill>
                  <a:srgbClr val="2D3037"/>
                </a:solidFill>
                <a:latin typeface="Aptos"/>
              </a:defRPr>
            </a:pPr>
            <a:r>
              <a:t>518</a:t>
            </a:r>
          </a:p>
        </p:txBody>
      </p:sp>
      <p:sp>
        <p:nvSpPr>
          <p:cNvPr id="18" name="TextBox 17"/>
          <p:cNvSpPr txBox="1"/>
          <p:nvPr/>
        </p:nvSpPr>
        <p:spPr>
          <a:xfrm>
            <a:off x="4160520" y="1463039"/>
            <a:ext cx="1325880" cy="438912"/>
          </a:xfrm>
          <a:prstGeom prst="rect">
            <a:avLst/>
          </a:prstGeom>
          <a:noFill/>
        </p:spPr>
        <p:txBody>
          <a:bodyPr wrap="square" anchor="ctr">
            <a:spAutoFit/>
          </a:bodyPr>
          <a:lstStyle/>
          <a:p>
            <a:pPr algn="ctr">
              <a:defRPr sz="850" b="0">
                <a:solidFill>
                  <a:srgbClr val="2D3037"/>
                </a:solidFill>
                <a:latin typeface="Aptos"/>
              </a:defRPr>
            </a:pPr>
            <a:r>
              <a:t>67.3%</a:t>
            </a:r>
          </a:p>
        </p:txBody>
      </p:sp>
      <p:sp>
        <p:nvSpPr>
          <p:cNvPr id="19" name="TextBox 18"/>
          <p:cNvSpPr txBox="1"/>
          <p:nvPr/>
        </p:nvSpPr>
        <p:spPr>
          <a:xfrm>
            <a:off x="5486400" y="1463039"/>
            <a:ext cx="1325880" cy="438912"/>
          </a:xfrm>
          <a:prstGeom prst="rect">
            <a:avLst/>
          </a:prstGeom>
          <a:noFill/>
        </p:spPr>
        <p:txBody>
          <a:bodyPr wrap="square" anchor="ctr">
            <a:spAutoFit/>
          </a:bodyPr>
          <a:lstStyle/>
          <a:p>
            <a:pPr algn="ctr">
              <a:defRPr sz="850" b="0">
                <a:solidFill>
                  <a:srgbClr val="2D3037"/>
                </a:solidFill>
                <a:latin typeface="Aptos"/>
              </a:defRPr>
            </a:pPr>
            <a:r>
              <a:t>8.2%</a:t>
            </a:r>
          </a:p>
        </p:txBody>
      </p:sp>
      <p:sp>
        <p:nvSpPr>
          <p:cNvPr id="20" name="TextBox 19"/>
          <p:cNvSpPr txBox="1"/>
          <p:nvPr/>
        </p:nvSpPr>
        <p:spPr>
          <a:xfrm>
            <a:off x="6812280" y="1463039"/>
            <a:ext cx="1508760" cy="438912"/>
          </a:xfrm>
          <a:prstGeom prst="rect">
            <a:avLst/>
          </a:prstGeom>
          <a:noFill/>
        </p:spPr>
        <p:txBody>
          <a:bodyPr wrap="square" anchor="ctr">
            <a:spAutoFit/>
          </a:bodyPr>
          <a:lstStyle/>
          <a:p>
            <a:pPr algn="ctr">
              <a:defRPr sz="850" b="0">
                <a:solidFill>
                  <a:srgbClr val="2D3037"/>
                </a:solidFill>
                <a:latin typeface="Aptos"/>
              </a:defRPr>
            </a:pPr>
            <a:r>
              <a:t>₹2K</a:t>
            </a:r>
          </a:p>
        </p:txBody>
      </p:sp>
      <p:sp>
        <p:nvSpPr>
          <p:cNvPr id="21" name="Rounded Rectangle 20"/>
          <p:cNvSpPr/>
          <p:nvPr/>
        </p:nvSpPr>
        <p:spPr>
          <a:xfrm>
            <a:off x="2514600" y="3154679"/>
            <a:ext cx="4297680" cy="2057400"/>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2731313" y="3337560"/>
            <a:ext cx="4005072" cy="256032"/>
          </a:xfrm>
          <a:prstGeom prst="rect">
            <a:avLst/>
          </a:prstGeom>
          <a:noFill/>
        </p:spPr>
        <p:txBody>
          <a:bodyPr wrap="square" anchor="t">
            <a:spAutoFit/>
          </a:bodyPr>
          <a:lstStyle/>
          <a:p>
            <a:pPr algn="l">
              <a:defRPr sz="900" b="1">
                <a:solidFill>
                  <a:srgbClr val="182652"/>
                </a:solidFill>
                <a:latin typeface="Aptos"/>
              </a:defRPr>
            </a:pPr>
            <a:r>
              <a:rPr dirty="0"/>
              <a:t>How to interpret the candidates</a:t>
            </a:r>
          </a:p>
        </p:txBody>
      </p:sp>
      <p:sp>
        <p:nvSpPr>
          <p:cNvPr id="23" name="TextBox 22"/>
          <p:cNvSpPr txBox="1"/>
          <p:nvPr/>
        </p:nvSpPr>
        <p:spPr>
          <a:xfrm>
            <a:off x="2731313" y="3689602"/>
            <a:ext cx="4005072" cy="707886"/>
          </a:xfrm>
          <a:prstGeom prst="rect">
            <a:avLst/>
          </a:prstGeom>
          <a:noFill/>
        </p:spPr>
        <p:txBody>
          <a:bodyPr wrap="square" anchor="t">
            <a:spAutoFit/>
          </a:bodyPr>
          <a:lstStyle/>
          <a:p>
            <a:pPr algn="l">
              <a:defRPr sz="840" b="0">
                <a:solidFill>
                  <a:srgbClr val="2D3037"/>
                </a:solidFill>
                <a:latin typeface="Aptos"/>
              </a:defRPr>
            </a:pPr>
            <a:r>
              <a:rPr sz="1000" dirty="0"/>
              <a:t>These products combine strong current volume with healthy margins and moderate discount dependence. They are candidates for controlled pricing tests — not proof that volume will remain unchanged after a price increase.</a:t>
            </a:r>
          </a:p>
        </p:txBody>
      </p:sp>
      <p:sp>
        <p:nvSpPr>
          <p:cNvPr id="24" name="Rounded Rectangle 23"/>
          <p:cNvSpPr/>
          <p:nvPr/>
        </p:nvSpPr>
        <p:spPr>
          <a:xfrm>
            <a:off x="7315200" y="3337560"/>
            <a:ext cx="4297680" cy="1874519"/>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61504" y="3447288"/>
            <a:ext cx="4005072" cy="256032"/>
          </a:xfrm>
          <a:prstGeom prst="rect">
            <a:avLst/>
          </a:prstGeom>
          <a:noFill/>
        </p:spPr>
        <p:txBody>
          <a:bodyPr wrap="square" anchor="t">
            <a:spAutoFit/>
          </a:bodyPr>
          <a:lstStyle/>
          <a:p>
            <a:pPr algn="l">
              <a:defRPr sz="900" b="1">
                <a:solidFill>
                  <a:srgbClr val="182652"/>
                </a:solidFill>
                <a:latin typeface="Aptos"/>
              </a:defRPr>
            </a:pPr>
            <a:r>
              <a:t>Recommended test design</a:t>
            </a:r>
          </a:p>
        </p:txBody>
      </p:sp>
      <p:sp>
        <p:nvSpPr>
          <p:cNvPr id="26" name="TextBox 25"/>
          <p:cNvSpPr txBox="1"/>
          <p:nvPr/>
        </p:nvSpPr>
        <p:spPr>
          <a:xfrm>
            <a:off x="7461504" y="3730752"/>
            <a:ext cx="4005072" cy="553998"/>
          </a:xfrm>
          <a:prstGeom prst="rect">
            <a:avLst/>
          </a:prstGeom>
          <a:noFill/>
        </p:spPr>
        <p:txBody>
          <a:bodyPr wrap="square" anchor="t">
            <a:spAutoFit/>
          </a:bodyPr>
          <a:lstStyle/>
          <a:p>
            <a:pPr algn="l">
              <a:defRPr sz="840" b="0">
                <a:solidFill>
                  <a:srgbClr val="2D3037"/>
                </a:solidFill>
                <a:latin typeface="Aptos"/>
              </a:defRPr>
            </a:pPr>
            <a:r>
              <a:rPr sz="1000" dirty="0"/>
              <a:t>Use a small A/B or store-level pilot, monitor units sold, revenue, margin and repeat purchase rate, and compare against a control group before making a permanent price change.</a:t>
            </a:r>
          </a:p>
        </p:txBody>
      </p:sp>
      <p:sp>
        <p:nvSpPr>
          <p:cNvPr id="27" name="TextBox 26"/>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Q5: PROMOTIONS &amp; BUNDLING STRATEGIES TO IMPROVE PROFITABILITY</a:t>
            </a:r>
          </a:p>
        </p:txBody>
      </p:sp>
      <p:sp>
        <p:nvSpPr>
          <p:cNvPr id="6" name="Oval 5"/>
          <p:cNvSpPr/>
          <p:nvPr/>
        </p:nvSpPr>
        <p:spPr>
          <a:xfrm>
            <a:off x="502920" y="1005840"/>
            <a:ext cx="502920" cy="502920"/>
          </a:xfrm>
          <a:prstGeom prst="ellipse">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042416"/>
            <a:ext cx="502920" cy="365760"/>
          </a:xfrm>
          <a:prstGeom prst="rect">
            <a:avLst/>
          </a:prstGeom>
          <a:noFill/>
        </p:spPr>
        <p:txBody>
          <a:bodyPr wrap="square" anchor="t">
            <a:spAutoFit/>
          </a:bodyPr>
          <a:lstStyle/>
          <a:p>
            <a:pPr algn="ctr">
              <a:defRPr sz="1100" b="1">
                <a:solidFill>
                  <a:srgbClr val="FFFFFF"/>
                </a:solidFill>
                <a:latin typeface="Aptos"/>
              </a:defRPr>
            </a:pPr>
            <a:r>
              <a:t>1</a:t>
            </a:r>
          </a:p>
        </p:txBody>
      </p:sp>
      <p:sp>
        <p:nvSpPr>
          <p:cNvPr id="8" name="Rounded Rectangle 7"/>
          <p:cNvSpPr/>
          <p:nvPr/>
        </p:nvSpPr>
        <p:spPr>
          <a:xfrm>
            <a:off x="1143000" y="1005840"/>
            <a:ext cx="4892040" cy="1600200"/>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9304" y="1115568"/>
            <a:ext cx="4599431" cy="256032"/>
          </a:xfrm>
          <a:prstGeom prst="rect">
            <a:avLst/>
          </a:prstGeom>
          <a:noFill/>
        </p:spPr>
        <p:txBody>
          <a:bodyPr wrap="square" anchor="t">
            <a:spAutoFit/>
          </a:bodyPr>
          <a:lstStyle/>
          <a:p>
            <a:pPr algn="l">
              <a:defRPr sz="900" b="1">
                <a:solidFill>
                  <a:srgbClr val="182652"/>
                </a:solidFill>
                <a:latin typeface="Aptos"/>
              </a:defRPr>
            </a:pPr>
            <a:r>
              <a:t>Meal + Beverage Bundles</a:t>
            </a:r>
          </a:p>
        </p:txBody>
      </p:sp>
      <p:sp>
        <p:nvSpPr>
          <p:cNvPr id="10" name="TextBox 9"/>
          <p:cNvSpPr txBox="1"/>
          <p:nvPr/>
        </p:nvSpPr>
        <p:spPr>
          <a:xfrm>
            <a:off x="1289304" y="1399032"/>
            <a:ext cx="4599431" cy="400110"/>
          </a:xfrm>
          <a:prstGeom prst="rect">
            <a:avLst/>
          </a:prstGeom>
          <a:noFill/>
        </p:spPr>
        <p:txBody>
          <a:bodyPr wrap="square" anchor="t">
            <a:spAutoFit/>
          </a:bodyPr>
          <a:lstStyle/>
          <a:p>
            <a:pPr algn="l">
              <a:defRPr sz="840" b="0">
                <a:solidFill>
                  <a:srgbClr val="2D3037"/>
                </a:solidFill>
                <a:latin typeface="Aptos"/>
              </a:defRPr>
            </a:pPr>
            <a:r>
              <a:rPr sz="1000"/>
              <a:t>Use high-volume meal anchors with high-margin beverages such as Fresh Lime Soda or Cold Coffee. Offer a small bundle saving rather than a deep discount.</a:t>
            </a:r>
          </a:p>
        </p:txBody>
      </p:sp>
      <p:sp>
        <p:nvSpPr>
          <p:cNvPr id="11" name="Oval 10"/>
          <p:cNvSpPr/>
          <p:nvPr/>
        </p:nvSpPr>
        <p:spPr>
          <a:xfrm>
            <a:off x="6126480" y="1005840"/>
            <a:ext cx="502920" cy="502920"/>
          </a:xfrm>
          <a:prstGeom prst="ellipse">
            <a:avLst/>
          </a:prstGeom>
          <a:solidFill>
            <a:srgbClr val="16A1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042416"/>
            <a:ext cx="502920" cy="365760"/>
          </a:xfrm>
          <a:prstGeom prst="rect">
            <a:avLst/>
          </a:prstGeom>
          <a:noFill/>
        </p:spPr>
        <p:txBody>
          <a:bodyPr wrap="square" anchor="t">
            <a:spAutoFit/>
          </a:bodyPr>
          <a:lstStyle/>
          <a:p>
            <a:pPr algn="ctr">
              <a:defRPr sz="1100" b="1">
                <a:solidFill>
                  <a:srgbClr val="FFFFFF"/>
                </a:solidFill>
                <a:latin typeface="Aptos"/>
              </a:defRPr>
            </a:pPr>
            <a:r>
              <a:t>2</a:t>
            </a:r>
          </a:p>
        </p:txBody>
      </p:sp>
      <p:sp>
        <p:nvSpPr>
          <p:cNvPr id="13" name="Rounded Rectangle 12"/>
          <p:cNvSpPr/>
          <p:nvPr/>
        </p:nvSpPr>
        <p:spPr>
          <a:xfrm>
            <a:off x="6766560" y="1005840"/>
            <a:ext cx="4892040" cy="1600200"/>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115568"/>
            <a:ext cx="4599431" cy="256032"/>
          </a:xfrm>
          <a:prstGeom prst="rect">
            <a:avLst/>
          </a:prstGeom>
          <a:noFill/>
        </p:spPr>
        <p:txBody>
          <a:bodyPr wrap="square" anchor="t">
            <a:spAutoFit/>
          </a:bodyPr>
          <a:lstStyle/>
          <a:p>
            <a:pPr algn="l">
              <a:defRPr sz="900" b="1">
                <a:solidFill>
                  <a:srgbClr val="182652"/>
                </a:solidFill>
                <a:latin typeface="Aptos"/>
              </a:defRPr>
            </a:pPr>
            <a:r>
              <a:t>Add-On Dessert Strategy</a:t>
            </a:r>
          </a:p>
        </p:txBody>
      </p:sp>
      <p:sp>
        <p:nvSpPr>
          <p:cNvPr id="15" name="TextBox 14"/>
          <p:cNvSpPr txBox="1"/>
          <p:nvPr/>
        </p:nvSpPr>
        <p:spPr>
          <a:xfrm>
            <a:off x="6912864" y="1399032"/>
            <a:ext cx="4599431" cy="400110"/>
          </a:xfrm>
          <a:prstGeom prst="rect">
            <a:avLst/>
          </a:prstGeom>
          <a:noFill/>
        </p:spPr>
        <p:txBody>
          <a:bodyPr wrap="square" anchor="t">
            <a:spAutoFit/>
          </a:bodyPr>
          <a:lstStyle/>
          <a:p>
            <a:pPr algn="l">
              <a:defRPr sz="840" b="0">
                <a:solidFill>
                  <a:srgbClr val="2D3037"/>
                </a:solidFill>
                <a:latin typeface="Aptos"/>
              </a:defRPr>
            </a:pPr>
            <a:r>
              <a:rPr sz="1000"/>
              <a:t>Attach Chocolate Cake or Brownie to popular meal orders as a low-friction add-on. The objective is to lift order value while protecting margin.</a:t>
            </a:r>
          </a:p>
        </p:txBody>
      </p:sp>
      <p:sp>
        <p:nvSpPr>
          <p:cNvPr id="16" name="Oval 15"/>
          <p:cNvSpPr/>
          <p:nvPr/>
        </p:nvSpPr>
        <p:spPr>
          <a:xfrm>
            <a:off x="502920" y="3246120"/>
            <a:ext cx="502920" cy="502920"/>
          </a:xfrm>
          <a:prstGeom prst="ellipse">
            <a:avLst/>
          </a:prstGeom>
          <a:solidFill>
            <a:srgbClr val="7C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282696"/>
            <a:ext cx="502920" cy="365760"/>
          </a:xfrm>
          <a:prstGeom prst="rect">
            <a:avLst/>
          </a:prstGeom>
          <a:noFill/>
        </p:spPr>
        <p:txBody>
          <a:bodyPr wrap="square" anchor="t">
            <a:spAutoFit/>
          </a:bodyPr>
          <a:lstStyle/>
          <a:p>
            <a:pPr algn="ctr">
              <a:defRPr sz="1100" b="1">
                <a:solidFill>
                  <a:srgbClr val="FFFFFF"/>
                </a:solidFill>
                <a:latin typeface="Aptos"/>
              </a:defRPr>
            </a:pPr>
            <a:r>
              <a:t>3</a:t>
            </a:r>
          </a:p>
        </p:txBody>
      </p:sp>
      <p:sp>
        <p:nvSpPr>
          <p:cNvPr id="18" name="Rounded Rectangle 17"/>
          <p:cNvSpPr/>
          <p:nvPr/>
        </p:nvSpPr>
        <p:spPr>
          <a:xfrm>
            <a:off x="1143000" y="3246120"/>
            <a:ext cx="4892040" cy="1600200"/>
          </a:xfrm>
          <a:prstGeom prst="roundRect">
            <a:avLst/>
          </a:prstGeom>
          <a:solidFill>
            <a:srgbClr val="FFFFFF"/>
          </a:solidFill>
          <a:ln w="12700">
            <a:solidFill>
              <a:srgbClr val="7C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9304" y="3355848"/>
            <a:ext cx="4599431" cy="256032"/>
          </a:xfrm>
          <a:prstGeom prst="rect">
            <a:avLst/>
          </a:prstGeom>
          <a:noFill/>
        </p:spPr>
        <p:txBody>
          <a:bodyPr wrap="square" anchor="t">
            <a:spAutoFit/>
          </a:bodyPr>
          <a:lstStyle/>
          <a:p>
            <a:pPr algn="l">
              <a:defRPr sz="900" b="1">
                <a:solidFill>
                  <a:srgbClr val="182652"/>
                </a:solidFill>
                <a:latin typeface="Aptos"/>
              </a:defRPr>
            </a:pPr>
            <a:r>
              <a:t>Targeted Promotions</a:t>
            </a:r>
          </a:p>
        </p:txBody>
      </p:sp>
      <p:sp>
        <p:nvSpPr>
          <p:cNvPr id="20" name="TextBox 19"/>
          <p:cNvSpPr txBox="1"/>
          <p:nvPr/>
        </p:nvSpPr>
        <p:spPr>
          <a:xfrm>
            <a:off x="1289304" y="3639312"/>
            <a:ext cx="4599431" cy="400110"/>
          </a:xfrm>
          <a:prstGeom prst="rect">
            <a:avLst/>
          </a:prstGeom>
          <a:noFill/>
        </p:spPr>
        <p:txBody>
          <a:bodyPr wrap="square" anchor="t">
            <a:spAutoFit/>
          </a:bodyPr>
          <a:lstStyle/>
          <a:p>
            <a:pPr algn="l">
              <a:defRPr sz="840" b="0">
                <a:solidFill>
                  <a:srgbClr val="2D3037"/>
                </a:solidFill>
                <a:latin typeface="Aptos"/>
              </a:defRPr>
            </a:pPr>
            <a:r>
              <a:rPr sz="1000"/>
              <a:t>Use promotions selectively on lower-margin or slower products. Avoid blanket discounts on products already generating strong demand and profit.</a:t>
            </a:r>
          </a:p>
        </p:txBody>
      </p:sp>
      <p:sp>
        <p:nvSpPr>
          <p:cNvPr id="21" name="Oval 20"/>
          <p:cNvSpPr/>
          <p:nvPr/>
        </p:nvSpPr>
        <p:spPr>
          <a:xfrm>
            <a:off x="6126480" y="3246120"/>
            <a:ext cx="502920" cy="502920"/>
          </a:xfrm>
          <a:prstGeom prst="ellipse">
            <a:avLst/>
          </a:prstGeom>
          <a:solidFill>
            <a:srgbClr val="34A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6480" y="3282696"/>
            <a:ext cx="502920" cy="365760"/>
          </a:xfrm>
          <a:prstGeom prst="rect">
            <a:avLst/>
          </a:prstGeom>
          <a:noFill/>
        </p:spPr>
        <p:txBody>
          <a:bodyPr wrap="square" anchor="t">
            <a:spAutoFit/>
          </a:bodyPr>
          <a:lstStyle/>
          <a:p>
            <a:pPr algn="ctr">
              <a:defRPr sz="1100" b="1">
                <a:solidFill>
                  <a:srgbClr val="FFFFFF"/>
                </a:solidFill>
                <a:latin typeface="Aptos"/>
              </a:defRPr>
            </a:pPr>
            <a:r>
              <a:t>4</a:t>
            </a:r>
          </a:p>
        </p:txBody>
      </p:sp>
      <p:sp>
        <p:nvSpPr>
          <p:cNvPr id="23" name="Rounded Rectangle 22"/>
          <p:cNvSpPr/>
          <p:nvPr/>
        </p:nvSpPr>
        <p:spPr>
          <a:xfrm>
            <a:off x="6766560" y="3246120"/>
            <a:ext cx="4892040" cy="1600200"/>
          </a:xfrm>
          <a:prstGeom prst="roundRect">
            <a:avLst/>
          </a:prstGeom>
          <a:solidFill>
            <a:srgbClr val="FFFFFF"/>
          </a:solidFill>
          <a:ln w="12700">
            <a:solidFill>
              <a:srgbClr val="34A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12864" y="3355848"/>
            <a:ext cx="4599431" cy="256032"/>
          </a:xfrm>
          <a:prstGeom prst="rect">
            <a:avLst/>
          </a:prstGeom>
          <a:noFill/>
        </p:spPr>
        <p:txBody>
          <a:bodyPr wrap="square" anchor="t">
            <a:spAutoFit/>
          </a:bodyPr>
          <a:lstStyle/>
          <a:p>
            <a:pPr algn="l">
              <a:defRPr sz="900" b="1">
                <a:solidFill>
                  <a:srgbClr val="182652"/>
                </a:solidFill>
                <a:latin typeface="Aptos"/>
              </a:defRPr>
            </a:pPr>
            <a:r>
              <a:t>Buy-More, Save-More</a:t>
            </a:r>
          </a:p>
        </p:txBody>
      </p:sp>
      <p:sp>
        <p:nvSpPr>
          <p:cNvPr id="25" name="TextBox 24"/>
          <p:cNvSpPr txBox="1"/>
          <p:nvPr/>
        </p:nvSpPr>
        <p:spPr>
          <a:xfrm>
            <a:off x="6912864" y="3611880"/>
            <a:ext cx="4599431" cy="400110"/>
          </a:xfrm>
          <a:prstGeom prst="rect">
            <a:avLst/>
          </a:prstGeom>
          <a:noFill/>
        </p:spPr>
        <p:txBody>
          <a:bodyPr wrap="square" anchor="t">
            <a:spAutoFit/>
          </a:bodyPr>
          <a:lstStyle/>
          <a:p>
            <a:pPr algn="l">
              <a:defRPr sz="840" b="0">
                <a:solidFill>
                  <a:srgbClr val="2D3037"/>
                </a:solidFill>
                <a:latin typeface="Aptos"/>
              </a:defRPr>
            </a:pPr>
            <a:r>
              <a:rPr sz="1000"/>
              <a:t>For high-volume products, use controlled quantity thresholds rather than large single-item discounts to encourage incremental units.</a:t>
            </a:r>
          </a:p>
        </p:txBody>
      </p:sp>
      <p:sp>
        <p:nvSpPr>
          <p:cNvPr id="26" name="Rounded Rectangle 25"/>
          <p:cNvSpPr/>
          <p:nvPr/>
        </p:nvSpPr>
        <p:spPr>
          <a:xfrm>
            <a:off x="502920" y="5577840"/>
            <a:ext cx="10972800" cy="594360"/>
          </a:xfrm>
          <a:prstGeom prst="roundRect">
            <a:avLst/>
          </a:prstGeom>
          <a:solidFill>
            <a:srgbClr val="FFFFFF"/>
          </a:solidFill>
          <a:ln w="12700">
            <a:solidFill>
              <a:srgbClr val="D24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 y="5687568"/>
            <a:ext cx="10680192" cy="261610"/>
          </a:xfrm>
          <a:prstGeom prst="rect">
            <a:avLst/>
          </a:prstGeom>
          <a:noFill/>
        </p:spPr>
        <p:txBody>
          <a:bodyPr wrap="square" anchor="t">
            <a:spAutoFit/>
          </a:bodyPr>
          <a:lstStyle/>
          <a:p>
            <a:pPr algn="l">
              <a:defRPr sz="900" b="1">
                <a:solidFill>
                  <a:srgbClr val="182652"/>
                </a:solidFill>
                <a:latin typeface="Aptos"/>
              </a:defRPr>
            </a:pPr>
            <a:r>
              <a:rPr sz="1100" dirty="0"/>
              <a:t>Important data limitation</a:t>
            </a:r>
          </a:p>
        </p:txBody>
      </p:sp>
      <p:sp>
        <p:nvSpPr>
          <p:cNvPr id="28" name="TextBox 27"/>
          <p:cNvSpPr txBox="1"/>
          <p:nvPr/>
        </p:nvSpPr>
        <p:spPr>
          <a:xfrm>
            <a:off x="649224" y="5971031"/>
            <a:ext cx="10680192" cy="246221"/>
          </a:xfrm>
          <a:prstGeom prst="rect">
            <a:avLst/>
          </a:prstGeom>
          <a:noFill/>
        </p:spPr>
        <p:txBody>
          <a:bodyPr wrap="square" anchor="t">
            <a:spAutoFit/>
          </a:bodyPr>
          <a:lstStyle/>
          <a:p>
            <a:pPr algn="l">
              <a:defRPr sz="840" b="0">
                <a:solidFill>
                  <a:srgbClr val="2D3037"/>
                </a:solidFill>
                <a:latin typeface="Aptos"/>
              </a:defRPr>
            </a:pPr>
            <a:r>
              <a:rPr sz="1000" dirty="0"/>
              <a:t>The dataset does not contain basket-level co-purchase information, so these are performance-based bundle recommendations, not observed customer purchase combinations.</a:t>
            </a:r>
          </a:p>
        </p:txBody>
      </p:sp>
      <p:sp>
        <p:nvSpPr>
          <p:cNvPr id="29" name="TextBox 28"/>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9436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94360"/>
            <a:ext cx="12191695" cy="54864"/>
          </a:xfrm>
          <a:prstGeom prst="rect">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09728"/>
            <a:ext cx="10881360" cy="329184"/>
          </a:xfrm>
          <a:prstGeom prst="rect">
            <a:avLst/>
          </a:prstGeom>
          <a:noFill/>
        </p:spPr>
        <p:txBody>
          <a:bodyPr wrap="none">
            <a:spAutoFit/>
          </a:bodyPr>
          <a:lstStyle/>
          <a:p>
            <a:pPr>
              <a:defRPr sz="1800" b="1">
                <a:solidFill>
                  <a:srgbClr val="FFFFFF"/>
                </a:solidFill>
                <a:latin typeface="Aptos Display"/>
              </a:defRPr>
            </a:pPr>
            <a:r>
              <a:t>STRATEGIC RECOMMENDATIONS</a:t>
            </a:r>
          </a:p>
        </p:txBody>
      </p:sp>
      <p:sp>
        <p:nvSpPr>
          <p:cNvPr id="6" name="TextBox 5"/>
          <p:cNvSpPr txBox="1"/>
          <p:nvPr/>
        </p:nvSpPr>
        <p:spPr>
          <a:xfrm>
            <a:off x="548640" y="914400"/>
            <a:ext cx="5394960" cy="274320"/>
          </a:xfrm>
          <a:prstGeom prst="rect">
            <a:avLst/>
          </a:prstGeom>
          <a:noFill/>
        </p:spPr>
        <p:txBody>
          <a:bodyPr wrap="square" anchor="t">
            <a:spAutoFit/>
          </a:bodyPr>
          <a:lstStyle/>
          <a:p>
            <a:pPr algn="l">
              <a:defRPr sz="1000" b="1">
                <a:solidFill>
                  <a:srgbClr val="16A1A6"/>
                </a:solidFill>
                <a:latin typeface="Aptos"/>
              </a:defRPr>
            </a:pPr>
            <a:r>
              <a:t>QUICK WINS (0–3 MONTHS)</a:t>
            </a:r>
          </a:p>
        </p:txBody>
      </p:sp>
      <p:sp>
        <p:nvSpPr>
          <p:cNvPr id="7" name="Rounded Rectangle 6"/>
          <p:cNvSpPr/>
          <p:nvPr/>
        </p:nvSpPr>
        <p:spPr>
          <a:xfrm>
            <a:off x="502920" y="1325880"/>
            <a:ext cx="5394960" cy="749808"/>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1435607"/>
            <a:ext cx="5102352" cy="256032"/>
          </a:xfrm>
          <a:prstGeom prst="rect">
            <a:avLst/>
          </a:prstGeom>
          <a:noFill/>
        </p:spPr>
        <p:txBody>
          <a:bodyPr wrap="square" anchor="t">
            <a:spAutoFit/>
          </a:bodyPr>
          <a:lstStyle/>
          <a:p>
            <a:pPr algn="l">
              <a:defRPr sz="900" b="1">
                <a:solidFill>
                  <a:srgbClr val="182652"/>
                </a:solidFill>
                <a:latin typeface="Aptos"/>
              </a:defRPr>
            </a:pPr>
            <a:r>
              <a:t>Quick win 1</a:t>
            </a:r>
          </a:p>
        </p:txBody>
      </p:sp>
      <p:sp>
        <p:nvSpPr>
          <p:cNvPr id="9" name="TextBox 8"/>
          <p:cNvSpPr txBox="1"/>
          <p:nvPr/>
        </p:nvSpPr>
        <p:spPr>
          <a:xfrm>
            <a:off x="649224" y="1719072"/>
            <a:ext cx="5102352" cy="246887"/>
          </a:xfrm>
          <a:prstGeom prst="rect">
            <a:avLst/>
          </a:prstGeom>
          <a:noFill/>
        </p:spPr>
        <p:txBody>
          <a:bodyPr wrap="square" anchor="t">
            <a:spAutoFit/>
          </a:bodyPr>
          <a:lstStyle/>
          <a:p>
            <a:pPr algn="l">
              <a:defRPr sz="840" b="0">
                <a:solidFill>
                  <a:srgbClr val="2D3037"/>
                </a:solidFill>
                <a:latin typeface="Aptos"/>
              </a:defRPr>
            </a:pPr>
            <a:r>
              <a:t>Prioritize meal + beverage bundles to raise AOV without deep discounting.</a:t>
            </a:r>
          </a:p>
        </p:txBody>
      </p:sp>
      <p:sp>
        <p:nvSpPr>
          <p:cNvPr id="10" name="Rounded Rectangle 9"/>
          <p:cNvSpPr/>
          <p:nvPr/>
        </p:nvSpPr>
        <p:spPr>
          <a:xfrm>
            <a:off x="502920" y="2331720"/>
            <a:ext cx="5394960" cy="749808"/>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 y="2441448"/>
            <a:ext cx="5102352" cy="256032"/>
          </a:xfrm>
          <a:prstGeom prst="rect">
            <a:avLst/>
          </a:prstGeom>
          <a:noFill/>
        </p:spPr>
        <p:txBody>
          <a:bodyPr wrap="square" anchor="t">
            <a:spAutoFit/>
          </a:bodyPr>
          <a:lstStyle/>
          <a:p>
            <a:pPr algn="l">
              <a:defRPr sz="900" b="1">
                <a:solidFill>
                  <a:srgbClr val="182652"/>
                </a:solidFill>
                <a:latin typeface="Aptos"/>
              </a:defRPr>
            </a:pPr>
            <a:r>
              <a:t>Quick win 2</a:t>
            </a:r>
          </a:p>
        </p:txBody>
      </p:sp>
      <p:sp>
        <p:nvSpPr>
          <p:cNvPr id="12" name="TextBox 11"/>
          <p:cNvSpPr txBox="1"/>
          <p:nvPr/>
        </p:nvSpPr>
        <p:spPr>
          <a:xfrm>
            <a:off x="649224" y="2724912"/>
            <a:ext cx="5102352" cy="246887"/>
          </a:xfrm>
          <a:prstGeom prst="rect">
            <a:avLst/>
          </a:prstGeom>
          <a:noFill/>
        </p:spPr>
        <p:txBody>
          <a:bodyPr wrap="square" anchor="t">
            <a:spAutoFit/>
          </a:bodyPr>
          <a:lstStyle/>
          <a:p>
            <a:pPr algn="l">
              <a:defRPr sz="840" b="0">
                <a:solidFill>
                  <a:srgbClr val="2D3037"/>
                </a:solidFill>
                <a:latin typeface="Aptos"/>
              </a:defRPr>
            </a:pPr>
            <a:r>
              <a:t>Review discount-heavy meal products, especially Chicken Biryani and Classic Burger.</a:t>
            </a:r>
          </a:p>
        </p:txBody>
      </p:sp>
      <p:sp>
        <p:nvSpPr>
          <p:cNvPr id="13" name="Rounded Rectangle 12"/>
          <p:cNvSpPr/>
          <p:nvPr/>
        </p:nvSpPr>
        <p:spPr>
          <a:xfrm>
            <a:off x="502920" y="3337560"/>
            <a:ext cx="5394960" cy="749808"/>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 y="3447288"/>
            <a:ext cx="5102352" cy="256032"/>
          </a:xfrm>
          <a:prstGeom prst="rect">
            <a:avLst/>
          </a:prstGeom>
          <a:noFill/>
        </p:spPr>
        <p:txBody>
          <a:bodyPr wrap="square" anchor="t">
            <a:spAutoFit/>
          </a:bodyPr>
          <a:lstStyle/>
          <a:p>
            <a:pPr algn="l">
              <a:defRPr sz="900" b="1">
                <a:solidFill>
                  <a:srgbClr val="182652"/>
                </a:solidFill>
                <a:latin typeface="Aptos"/>
              </a:defRPr>
            </a:pPr>
            <a:r>
              <a:t>Quick win 3</a:t>
            </a:r>
          </a:p>
        </p:txBody>
      </p:sp>
      <p:sp>
        <p:nvSpPr>
          <p:cNvPr id="15" name="TextBox 14"/>
          <p:cNvSpPr txBox="1"/>
          <p:nvPr/>
        </p:nvSpPr>
        <p:spPr>
          <a:xfrm>
            <a:off x="649224" y="3730752"/>
            <a:ext cx="5102352" cy="246887"/>
          </a:xfrm>
          <a:prstGeom prst="rect">
            <a:avLst/>
          </a:prstGeom>
          <a:noFill/>
        </p:spPr>
        <p:txBody>
          <a:bodyPr wrap="square" anchor="t">
            <a:spAutoFit/>
          </a:bodyPr>
          <a:lstStyle/>
          <a:p>
            <a:pPr algn="l">
              <a:defRPr sz="840" b="0">
                <a:solidFill>
                  <a:srgbClr val="2D3037"/>
                </a:solidFill>
                <a:latin typeface="Aptos"/>
              </a:defRPr>
            </a:pPr>
            <a:r>
              <a:t>Use targeted promotions instead of portfolio-wide percentage discounts.</a:t>
            </a:r>
          </a:p>
        </p:txBody>
      </p:sp>
      <p:sp>
        <p:nvSpPr>
          <p:cNvPr id="16" name="Rounded Rectangle 15"/>
          <p:cNvSpPr/>
          <p:nvPr/>
        </p:nvSpPr>
        <p:spPr>
          <a:xfrm>
            <a:off x="502920" y="4343400"/>
            <a:ext cx="5394960" cy="749808"/>
          </a:xfrm>
          <a:prstGeom prst="roundRect">
            <a:avLst/>
          </a:prstGeom>
          <a:solidFill>
            <a:srgbClr val="FFFFFF"/>
          </a:solidFill>
          <a:ln w="12700">
            <a:solidFill>
              <a:srgbClr val="16A1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 y="4453128"/>
            <a:ext cx="5102352" cy="256032"/>
          </a:xfrm>
          <a:prstGeom prst="rect">
            <a:avLst/>
          </a:prstGeom>
          <a:noFill/>
        </p:spPr>
        <p:txBody>
          <a:bodyPr wrap="square" anchor="t">
            <a:spAutoFit/>
          </a:bodyPr>
          <a:lstStyle/>
          <a:p>
            <a:pPr algn="l">
              <a:defRPr sz="900" b="1">
                <a:solidFill>
                  <a:srgbClr val="182652"/>
                </a:solidFill>
                <a:latin typeface="Aptos"/>
              </a:defRPr>
            </a:pPr>
            <a:r>
              <a:t>Quick win 4</a:t>
            </a:r>
          </a:p>
        </p:txBody>
      </p:sp>
      <p:sp>
        <p:nvSpPr>
          <p:cNvPr id="18" name="TextBox 17"/>
          <p:cNvSpPr txBox="1"/>
          <p:nvPr/>
        </p:nvSpPr>
        <p:spPr>
          <a:xfrm>
            <a:off x="649224" y="4736592"/>
            <a:ext cx="5102352" cy="246887"/>
          </a:xfrm>
          <a:prstGeom prst="rect">
            <a:avLst/>
          </a:prstGeom>
          <a:noFill/>
        </p:spPr>
        <p:txBody>
          <a:bodyPr wrap="square" anchor="t">
            <a:spAutoFit/>
          </a:bodyPr>
          <a:lstStyle/>
          <a:p>
            <a:pPr algn="l">
              <a:defRPr sz="840" b="0">
                <a:solidFill>
                  <a:srgbClr val="2D3037"/>
                </a:solidFill>
                <a:latin typeface="Aptos"/>
              </a:defRPr>
            </a:pPr>
            <a:r>
              <a:t>Pilot controlled price tests on high-volume, healthy-margin products.</a:t>
            </a:r>
          </a:p>
        </p:txBody>
      </p:sp>
      <p:sp>
        <p:nvSpPr>
          <p:cNvPr id="19" name="TextBox 18"/>
          <p:cNvSpPr txBox="1"/>
          <p:nvPr/>
        </p:nvSpPr>
        <p:spPr>
          <a:xfrm>
            <a:off x="6217920" y="914400"/>
            <a:ext cx="5394960" cy="274320"/>
          </a:xfrm>
          <a:prstGeom prst="rect">
            <a:avLst/>
          </a:prstGeom>
          <a:noFill/>
        </p:spPr>
        <p:txBody>
          <a:bodyPr wrap="square" anchor="t">
            <a:spAutoFit/>
          </a:bodyPr>
          <a:lstStyle/>
          <a:p>
            <a:pPr algn="l">
              <a:defRPr sz="1000" b="1">
                <a:solidFill>
                  <a:srgbClr val="EEA724"/>
                </a:solidFill>
                <a:latin typeface="Aptos"/>
              </a:defRPr>
            </a:pPr>
            <a:r>
              <a:t>LONG-TERM (3–12 MONTHS)</a:t>
            </a:r>
          </a:p>
        </p:txBody>
      </p:sp>
      <p:sp>
        <p:nvSpPr>
          <p:cNvPr id="20" name="Rounded Rectangle 19"/>
          <p:cNvSpPr/>
          <p:nvPr/>
        </p:nvSpPr>
        <p:spPr>
          <a:xfrm>
            <a:off x="6172200" y="1325880"/>
            <a:ext cx="5394960" cy="749808"/>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18504" y="1435607"/>
            <a:ext cx="5102352" cy="256032"/>
          </a:xfrm>
          <a:prstGeom prst="rect">
            <a:avLst/>
          </a:prstGeom>
          <a:noFill/>
        </p:spPr>
        <p:txBody>
          <a:bodyPr wrap="square" anchor="t">
            <a:spAutoFit/>
          </a:bodyPr>
          <a:lstStyle/>
          <a:p>
            <a:pPr algn="l">
              <a:defRPr sz="900" b="1">
                <a:solidFill>
                  <a:srgbClr val="182652"/>
                </a:solidFill>
                <a:latin typeface="Aptos"/>
              </a:defRPr>
            </a:pPr>
            <a:r>
              <a:t>Long-term 1</a:t>
            </a:r>
          </a:p>
        </p:txBody>
      </p:sp>
      <p:sp>
        <p:nvSpPr>
          <p:cNvPr id="22" name="TextBox 21"/>
          <p:cNvSpPr txBox="1"/>
          <p:nvPr/>
        </p:nvSpPr>
        <p:spPr>
          <a:xfrm>
            <a:off x="6318504" y="1719072"/>
            <a:ext cx="5102352" cy="246887"/>
          </a:xfrm>
          <a:prstGeom prst="rect">
            <a:avLst/>
          </a:prstGeom>
          <a:noFill/>
        </p:spPr>
        <p:txBody>
          <a:bodyPr wrap="square" anchor="t">
            <a:spAutoFit/>
          </a:bodyPr>
          <a:lstStyle/>
          <a:p>
            <a:pPr algn="l">
              <a:defRPr sz="840" b="0">
                <a:solidFill>
                  <a:srgbClr val="2D3037"/>
                </a:solidFill>
                <a:latin typeface="Aptos"/>
              </a:defRPr>
            </a:pPr>
            <a:r>
              <a:t>Build basket-level data collection to validate true product affinities and bundle combinations.</a:t>
            </a:r>
          </a:p>
        </p:txBody>
      </p:sp>
      <p:sp>
        <p:nvSpPr>
          <p:cNvPr id="23" name="Rounded Rectangle 22"/>
          <p:cNvSpPr/>
          <p:nvPr/>
        </p:nvSpPr>
        <p:spPr>
          <a:xfrm>
            <a:off x="6172200" y="2331720"/>
            <a:ext cx="5394960" cy="749808"/>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18504" y="2441448"/>
            <a:ext cx="5102352" cy="256032"/>
          </a:xfrm>
          <a:prstGeom prst="rect">
            <a:avLst/>
          </a:prstGeom>
          <a:noFill/>
        </p:spPr>
        <p:txBody>
          <a:bodyPr wrap="square" anchor="t">
            <a:spAutoFit/>
          </a:bodyPr>
          <a:lstStyle/>
          <a:p>
            <a:pPr algn="l">
              <a:defRPr sz="900" b="1">
                <a:solidFill>
                  <a:srgbClr val="182652"/>
                </a:solidFill>
                <a:latin typeface="Aptos"/>
              </a:defRPr>
            </a:pPr>
            <a:r>
              <a:t>Long-term 2</a:t>
            </a:r>
          </a:p>
        </p:txBody>
      </p:sp>
      <p:sp>
        <p:nvSpPr>
          <p:cNvPr id="25" name="TextBox 24"/>
          <p:cNvSpPr txBox="1"/>
          <p:nvPr/>
        </p:nvSpPr>
        <p:spPr>
          <a:xfrm>
            <a:off x="6318504" y="2724912"/>
            <a:ext cx="5102352" cy="246887"/>
          </a:xfrm>
          <a:prstGeom prst="rect">
            <a:avLst/>
          </a:prstGeom>
          <a:noFill/>
        </p:spPr>
        <p:txBody>
          <a:bodyPr wrap="square" anchor="t">
            <a:spAutoFit/>
          </a:bodyPr>
          <a:lstStyle/>
          <a:p>
            <a:pPr algn="l">
              <a:defRPr sz="840" b="0">
                <a:solidFill>
                  <a:srgbClr val="2D3037"/>
                </a:solidFill>
                <a:latin typeface="Aptos"/>
              </a:defRPr>
            </a:pPr>
            <a:r>
              <a:t>Introduce price elasticity experiments with control groups before permanent price changes.</a:t>
            </a:r>
          </a:p>
        </p:txBody>
      </p:sp>
      <p:sp>
        <p:nvSpPr>
          <p:cNvPr id="26" name="Rounded Rectangle 25"/>
          <p:cNvSpPr/>
          <p:nvPr/>
        </p:nvSpPr>
        <p:spPr>
          <a:xfrm>
            <a:off x="6172200" y="3337560"/>
            <a:ext cx="5394960" cy="749808"/>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18504" y="3447288"/>
            <a:ext cx="5102352" cy="256032"/>
          </a:xfrm>
          <a:prstGeom prst="rect">
            <a:avLst/>
          </a:prstGeom>
          <a:noFill/>
        </p:spPr>
        <p:txBody>
          <a:bodyPr wrap="square" anchor="t">
            <a:spAutoFit/>
          </a:bodyPr>
          <a:lstStyle/>
          <a:p>
            <a:pPr algn="l">
              <a:defRPr sz="900" b="1">
                <a:solidFill>
                  <a:srgbClr val="182652"/>
                </a:solidFill>
                <a:latin typeface="Aptos"/>
              </a:defRPr>
            </a:pPr>
            <a:r>
              <a:t>Long-term 3</a:t>
            </a:r>
          </a:p>
        </p:txBody>
      </p:sp>
      <p:sp>
        <p:nvSpPr>
          <p:cNvPr id="28" name="TextBox 27"/>
          <p:cNvSpPr txBox="1"/>
          <p:nvPr/>
        </p:nvSpPr>
        <p:spPr>
          <a:xfrm>
            <a:off x="6318504" y="3730752"/>
            <a:ext cx="5102352" cy="246887"/>
          </a:xfrm>
          <a:prstGeom prst="rect">
            <a:avLst/>
          </a:prstGeom>
          <a:noFill/>
        </p:spPr>
        <p:txBody>
          <a:bodyPr wrap="square" anchor="t">
            <a:spAutoFit/>
          </a:bodyPr>
          <a:lstStyle/>
          <a:p>
            <a:pPr algn="l">
              <a:defRPr sz="840" b="0">
                <a:solidFill>
                  <a:srgbClr val="2D3037"/>
                </a:solidFill>
                <a:latin typeface="Aptos"/>
              </a:defRPr>
            </a:pPr>
            <a:r>
              <a:t>Develop a discount governance framework by product margin and customer type.</a:t>
            </a:r>
          </a:p>
        </p:txBody>
      </p:sp>
      <p:sp>
        <p:nvSpPr>
          <p:cNvPr id="29" name="Rounded Rectangle 28"/>
          <p:cNvSpPr/>
          <p:nvPr/>
        </p:nvSpPr>
        <p:spPr>
          <a:xfrm>
            <a:off x="6172200" y="4343400"/>
            <a:ext cx="5394960" cy="749808"/>
          </a:xfrm>
          <a:prstGeom prst="roundRect">
            <a:avLst/>
          </a:prstGeom>
          <a:solidFill>
            <a:srgbClr val="FFFFFF"/>
          </a:solidFill>
          <a:ln w="12700">
            <a:solidFill>
              <a:srgbClr val="EEA7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18504" y="4453128"/>
            <a:ext cx="5102352" cy="256032"/>
          </a:xfrm>
          <a:prstGeom prst="rect">
            <a:avLst/>
          </a:prstGeom>
          <a:noFill/>
        </p:spPr>
        <p:txBody>
          <a:bodyPr wrap="square" anchor="t">
            <a:spAutoFit/>
          </a:bodyPr>
          <a:lstStyle/>
          <a:p>
            <a:pPr algn="l">
              <a:defRPr sz="900" b="1">
                <a:solidFill>
                  <a:srgbClr val="182652"/>
                </a:solidFill>
                <a:latin typeface="Aptos"/>
              </a:defRPr>
            </a:pPr>
            <a:r>
              <a:t>Long-term 4</a:t>
            </a:r>
          </a:p>
        </p:txBody>
      </p:sp>
      <p:sp>
        <p:nvSpPr>
          <p:cNvPr id="31" name="TextBox 30"/>
          <p:cNvSpPr txBox="1"/>
          <p:nvPr/>
        </p:nvSpPr>
        <p:spPr>
          <a:xfrm>
            <a:off x="6318504" y="4736592"/>
            <a:ext cx="5102352" cy="246887"/>
          </a:xfrm>
          <a:prstGeom prst="rect">
            <a:avLst/>
          </a:prstGeom>
          <a:noFill/>
        </p:spPr>
        <p:txBody>
          <a:bodyPr wrap="square" anchor="t">
            <a:spAutoFit/>
          </a:bodyPr>
          <a:lstStyle/>
          <a:p>
            <a:pPr algn="l">
              <a:defRPr sz="840" b="0">
                <a:solidFill>
                  <a:srgbClr val="2D3037"/>
                </a:solidFill>
                <a:latin typeface="Aptos"/>
              </a:defRPr>
            </a:pPr>
            <a:r>
              <a:t>Track Revenue, Profit, Margin, AOV, Units Sold and Discount Impact in a recurring Power BI review.</a:t>
            </a:r>
          </a:p>
        </p:txBody>
      </p:sp>
      <p:sp>
        <p:nvSpPr>
          <p:cNvPr id="32" name="TextBox 31"/>
          <p:cNvSpPr txBox="1"/>
          <p:nvPr/>
        </p:nvSpPr>
        <p:spPr>
          <a:xfrm>
            <a:off x="411480" y="6510528"/>
            <a:ext cx="11338560" cy="182880"/>
          </a:xfrm>
          <a:prstGeom prst="rect">
            <a:avLst/>
          </a:prstGeom>
          <a:noFill/>
        </p:spPr>
        <p:txBody>
          <a:bodyPr wrap="none">
            <a:spAutoFit/>
          </a:bodyPr>
          <a:lstStyle/>
          <a:p>
            <a:pPr algn="r">
              <a:defRPr sz="700">
                <a:solidFill>
                  <a:srgbClr val="696E78"/>
                </a:solidFill>
                <a:latin typeface="Aptos"/>
              </a:defRPr>
            </a:pPr>
            <a:r>
              <a:t>TastyBites • Product Pricing &amp; Profitability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411480"/>
            <a:ext cx="658368" cy="658368"/>
          </a:xfrm>
          <a:prstGeom prst="ellipse">
            <a:avLst/>
          </a:prstGeom>
          <a:solidFill>
            <a:srgbClr val="EEA7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85216" y="557784"/>
            <a:ext cx="493776" cy="228600"/>
          </a:xfrm>
          <a:prstGeom prst="rect">
            <a:avLst/>
          </a:prstGeom>
          <a:noFill/>
        </p:spPr>
        <p:txBody>
          <a:bodyPr wrap="square" anchor="t">
            <a:spAutoFit/>
          </a:bodyPr>
          <a:lstStyle/>
          <a:p>
            <a:pPr algn="ctr">
              <a:defRPr sz="1500" b="1">
                <a:solidFill>
                  <a:srgbClr val="182652"/>
                </a:solidFill>
                <a:latin typeface="Aptos"/>
              </a:defRPr>
            </a:pPr>
            <a:r>
              <a:t>TB</a:t>
            </a:r>
          </a:p>
        </p:txBody>
      </p:sp>
      <p:sp>
        <p:nvSpPr>
          <p:cNvPr id="5" name="TextBox 4"/>
          <p:cNvSpPr txBox="1"/>
          <p:nvPr/>
        </p:nvSpPr>
        <p:spPr>
          <a:xfrm>
            <a:off x="1353312" y="530352"/>
            <a:ext cx="2286000" cy="228600"/>
          </a:xfrm>
          <a:prstGeom prst="rect">
            <a:avLst/>
          </a:prstGeom>
          <a:noFill/>
        </p:spPr>
        <p:txBody>
          <a:bodyPr wrap="square" anchor="t">
            <a:spAutoFit/>
          </a:bodyPr>
          <a:lstStyle/>
          <a:p>
            <a:pPr algn="l">
              <a:defRPr sz="1000" b="1">
                <a:solidFill>
                  <a:srgbClr val="EEA724"/>
                </a:solidFill>
                <a:latin typeface="Aptos"/>
              </a:defRPr>
            </a:pPr>
            <a:r>
              <a:t>TASTYBITES</a:t>
            </a:r>
          </a:p>
        </p:txBody>
      </p:sp>
      <p:sp>
        <p:nvSpPr>
          <p:cNvPr id="6" name="TextBox 5"/>
          <p:cNvSpPr txBox="1"/>
          <p:nvPr/>
        </p:nvSpPr>
        <p:spPr>
          <a:xfrm>
            <a:off x="3566160" y="2194560"/>
            <a:ext cx="5120640" cy="640080"/>
          </a:xfrm>
          <a:prstGeom prst="rect">
            <a:avLst/>
          </a:prstGeom>
          <a:noFill/>
        </p:spPr>
        <p:txBody>
          <a:bodyPr wrap="square" anchor="t">
            <a:spAutoFit/>
          </a:bodyPr>
          <a:lstStyle/>
          <a:p>
            <a:pPr algn="ctr">
              <a:defRPr sz="3100" b="1">
                <a:solidFill>
                  <a:srgbClr val="FFFFFF"/>
                </a:solidFill>
                <a:latin typeface="Aptos"/>
              </a:defRPr>
            </a:pPr>
            <a:r>
              <a:t>Thank You</a:t>
            </a:r>
          </a:p>
        </p:txBody>
      </p:sp>
      <p:sp>
        <p:nvSpPr>
          <p:cNvPr id="7" name="TextBox 6"/>
          <p:cNvSpPr txBox="1"/>
          <p:nvPr/>
        </p:nvSpPr>
        <p:spPr>
          <a:xfrm>
            <a:off x="3246120" y="2971800"/>
            <a:ext cx="5760720" cy="320040"/>
          </a:xfrm>
          <a:prstGeom prst="rect">
            <a:avLst/>
          </a:prstGeom>
          <a:noFill/>
        </p:spPr>
        <p:txBody>
          <a:bodyPr wrap="square" anchor="t">
            <a:spAutoFit/>
          </a:bodyPr>
          <a:lstStyle/>
          <a:p>
            <a:pPr algn="ctr">
              <a:defRPr sz="1300" b="0">
                <a:solidFill>
                  <a:srgbClr val="D7DCE8"/>
                </a:solidFill>
                <a:latin typeface="Aptos"/>
              </a:defRPr>
            </a:pPr>
            <a:r>
              <a:t>Product Pricing &amp; Profitability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1128</Words>
  <Application>Microsoft Office PowerPoint</Application>
  <PresentationFormat>Widescreen</PresentationFormat>
  <Paragraphs>190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Amrish Yadav</cp:lastModifiedBy>
  <cp:revision>2</cp:revision>
  <dcterms:created xsi:type="dcterms:W3CDTF">2013-01-27T09:14:16Z</dcterms:created>
  <dcterms:modified xsi:type="dcterms:W3CDTF">2026-10-08T13:20:35Z</dcterms:modified>
  <cp:category/>
</cp:coreProperties>
</file>